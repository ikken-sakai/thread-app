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8" r:id="rId6"/>
    <p:sldId id="296" r:id="rId7"/>
    <p:sldId id="307" r:id="rId8"/>
    <p:sldId id="300" r:id="rId9"/>
    <p:sldId id="299" r:id="rId10"/>
    <p:sldId id="306" r:id="rId11"/>
    <p:sldId id="298" r:id="rId12"/>
    <p:sldId id="297" r:id="rId13"/>
    <p:sldId id="275" r:id="rId14"/>
    <p:sldId id="302" r:id="rId15"/>
    <p:sldId id="303" r:id="rId16"/>
    <p:sldId id="293" r:id="rId17"/>
    <p:sldId id="304" r:id="rId18"/>
    <p:sldId id="305" r:id="rId1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EC1"/>
    <a:srgbClr val="D495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ECB1CA-A95B-4E0A-8264-E481552A0487}" v="1" dt="2025-11-10T06:21:46.7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1" autoAdjust="0"/>
    <p:restoredTop sz="87483"/>
  </p:normalViewPr>
  <p:slideViewPr>
    <p:cSldViewPr snapToGrid="0" snapToObjects="1">
      <p:cViewPr varScale="1">
        <p:scale>
          <a:sx n="31" d="100"/>
          <a:sy n="31" d="100"/>
        </p:scale>
        <p:origin x="1194" y="54"/>
      </p:cViewPr>
      <p:guideLst>
        <p:guide orient="horz" pos="2160"/>
        <p:guide pos="39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坂井 壱謙" userId="a02042c3-a997-429c-9dc2-5a842535305c" providerId="ADAL" clId="{0E920D34-191F-4E27-9775-CF48BF5B0BC9}"/>
    <pc:docChg chg="undo redo custSel addSld delSld modSld sldOrd">
      <pc:chgData name="坂井 壱謙" userId="a02042c3-a997-429c-9dc2-5a842535305c" providerId="ADAL" clId="{0E920D34-191F-4E27-9775-CF48BF5B0BC9}" dt="2025-11-10T06:35:53.808" v="12828" actId="20577"/>
      <pc:docMkLst>
        <pc:docMk/>
      </pc:docMkLst>
      <pc:sldChg chg="modSp mod">
        <pc:chgData name="坂井 壱謙" userId="a02042c3-a997-429c-9dc2-5a842535305c" providerId="ADAL" clId="{0E920D34-191F-4E27-9775-CF48BF5B0BC9}" dt="2025-11-10T06:35:53.808" v="12828" actId="20577"/>
        <pc:sldMkLst>
          <pc:docMk/>
          <pc:sldMk cId="3877803251" sldId="256"/>
        </pc:sldMkLst>
        <pc:spChg chg="mod">
          <ac:chgData name="坂井 壱謙" userId="a02042c3-a997-429c-9dc2-5a842535305c" providerId="ADAL" clId="{0E920D34-191F-4E27-9775-CF48BF5B0BC9}" dt="2025-11-10T06:35:53.808" v="12828" actId="20577"/>
          <ac:spMkLst>
            <pc:docMk/>
            <pc:sldMk cId="3877803251" sldId="256"/>
            <ac:spMk id="3" creationId="{1AE313A0-35E2-4F4C-BEDF-EC600745265F}"/>
          </ac:spMkLst>
        </pc:spChg>
      </pc:sldChg>
      <pc:sldChg chg="modSp mod">
        <pc:chgData name="坂井 壱謙" userId="a02042c3-a997-429c-9dc2-5a842535305c" providerId="ADAL" clId="{0E920D34-191F-4E27-9775-CF48BF5B0BC9}" dt="2025-11-05T03:13:26.240" v="12252" actId="20577"/>
        <pc:sldMkLst>
          <pc:docMk/>
          <pc:sldMk cId="3241307529" sldId="296"/>
        </pc:sldMkLst>
        <pc:spChg chg="mod">
          <ac:chgData name="坂井 壱謙" userId="a02042c3-a997-429c-9dc2-5a842535305c" providerId="ADAL" clId="{0E920D34-191F-4E27-9775-CF48BF5B0BC9}" dt="2025-11-05T03:13:26.240" v="12252" actId="20577"/>
          <ac:spMkLst>
            <pc:docMk/>
            <pc:sldMk cId="3241307529" sldId="296"/>
            <ac:spMk id="3" creationId="{291D630B-65BA-D82E-D034-1CF8007FF76D}"/>
          </ac:spMkLst>
        </pc:spChg>
      </pc:sldChg>
      <pc:sldChg chg="addSp delSp modSp mod">
        <pc:chgData name="坂井 壱謙" userId="a02042c3-a997-429c-9dc2-5a842535305c" providerId="ADAL" clId="{0E920D34-191F-4E27-9775-CF48BF5B0BC9}" dt="2025-11-10T06:29:01.011" v="12813" actId="14100"/>
        <pc:sldMkLst>
          <pc:docMk/>
          <pc:sldMk cId="214276510" sldId="298"/>
        </pc:sldMkLst>
        <pc:spChg chg="del">
          <ac:chgData name="坂井 壱謙" userId="a02042c3-a997-429c-9dc2-5a842535305c" providerId="ADAL" clId="{0E920D34-191F-4E27-9775-CF48BF5B0BC9}" dt="2025-11-10T06:26:29.253" v="12808" actId="478"/>
          <ac:spMkLst>
            <pc:docMk/>
            <pc:sldMk cId="214276510" sldId="298"/>
            <ac:spMk id="7" creationId="{288CB1F9-513A-9F07-9F17-D86160492F24}"/>
          </ac:spMkLst>
        </pc:spChg>
        <pc:spChg chg="del">
          <ac:chgData name="坂井 壱謙" userId="a02042c3-a997-429c-9dc2-5a842535305c" providerId="ADAL" clId="{0E920D34-191F-4E27-9775-CF48BF5B0BC9}" dt="2025-11-10T06:26:21.886" v="12804" actId="478"/>
          <ac:spMkLst>
            <pc:docMk/>
            <pc:sldMk cId="214276510" sldId="298"/>
            <ac:spMk id="9" creationId="{2E60336A-DC2B-1933-A488-F895DB0F345E}"/>
          </ac:spMkLst>
        </pc:spChg>
        <pc:spChg chg="mod">
          <ac:chgData name="坂井 壱謙" userId="a02042c3-a997-429c-9dc2-5a842535305c" providerId="ADAL" clId="{0E920D34-191F-4E27-9775-CF48BF5B0BC9}" dt="2025-11-10T06:28:52.824" v="12812" actId="1076"/>
          <ac:spMkLst>
            <pc:docMk/>
            <pc:sldMk cId="214276510" sldId="298"/>
            <ac:spMk id="10" creationId="{7487BDF1-16D3-393A-AA69-4E71B2587CBC}"/>
          </ac:spMkLst>
        </pc:spChg>
        <pc:spChg chg="del mod">
          <ac:chgData name="坂井 壱謙" userId="a02042c3-a997-429c-9dc2-5a842535305c" providerId="ADAL" clId="{0E920D34-191F-4E27-9775-CF48BF5B0BC9}" dt="2025-11-10T06:26:18.418" v="12803" actId="478"/>
          <ac:spMkLst>
            <pc:docMk/>
            <pc:sldMk cId="214276510" sldId="298"/>
            <ac:spMk id="16" creationId="{DA15F420-CE94-320F-90A1-063A9597D663}"/>
          </ac:spMkLst>
        </pc:spChg>
        <pc:spChg chg="del mod">
          <ac:chgData name="坂井 壱謙" userId="a02042c3-a997-429c-9dc2-5a842535305c" providerId="ADAL" clId="{0E920D34-191F-4E27-9775-CF48BF5B0BC9}" dt="2025-11-10T06:26:24.874" v="12806" actId="478"/>
          <ac:spMkLst>
            <pc:docMk/>
            <pc:sldMk cId="214276510" sldId="298"/>
            <ac:spMk id="21" creationId="{683C7E8B-3934-82CD-824B-C3462F1D39F3}"/>
          </ac:spMkLst>
        </pc:spChg>
        <pc:picChg chg="del">
          <ac:chgData name="坂井 壱謙" userId="a02042c3-a997-429c-9dc2-5a842535305c" providerId="ADAL" clId="{0E920D34-191F-4E27-9775-CF48BF5B0BC9}" dt="2025-11-10T06:26:13.432" v="12800" actId="478"/>
          <ac:picMkLst>
            <pc:docMk/>
            <pc:sldMk cId="214276510" sldId="298"/>
            <ac:picMk id="8" creationId="{2842EF50-DAB3-EEA7-76E8-87625FAADAD7}"/>
          </ac:picMkLst>
        </pc:picChg>
        <pc:picChg chg="add mod">
          <ac:chgData name="坂井 壱謙" userId="a02042c3-a997-429c-9dc2-5a842535305c" providerId="ADAL" clId="{0E920D34-191F-4E27-9775-CF48BF5B0BC9}" dt="2025-11-10T06:29:01.011" v="12813" actId="14100"/>
          <ac:picMkLst>
            <pc:docMk/>
            <pc:sldMk cId="214276510" sldId="298"/>
            <ac:picMk id="14" creationId="{1A788422-367F-DE4F-C81A-BEFD9C26B8CC}"/>
          </ac:picMkLst>
        </pc:picChg>
        <pc:cxnChg chg="del mod">
          <ac:chgData name="坂井 壱謙" userId="a02042c3-a997-429c-9dc2-5a842535305c" providerId="ADAL" clId="{0E920D34-191F-4E27-9775-CF48BF5B0BC9}" dt="2025-11-10T06:26:26.469" v="12807" actId="478"/>
          <ac:cxnSpMkLst>
            <pc:docMk/>
            <pc:sldMk cId="214276510" sldId="298"/>
            <ac:cxnSpMk id="18" creationId="{41B8DA8E-59E1-3280-B47B-807EDE68F2FF}"/>
          </ac:cxnSpMkLst>
        </pc:cxnChg>
      </pc:sldChg>
      <pc:sldChg chg="modSp mod ord">
        <pc:chgData name="坂井 壱謙" userId="a02042c3-a997-429c-9dc2-5a842535305c" providerId="ADAL" clId="{0E920D34-191F-4E27-9775-CF48BF5B0BC9}" dt="2025-10-17T08:00:49.865" v="12174"/>
        <pc:sldMkLst>
          <pc:docMk/>
          <pc:sldMk cId="793607999" sldId="299"/>
        </pc:sldMkLst>
      </pc:sldChg>
      <pc:sldChg chg="addSp delSp modSp add mod ord">
        <pc:chgData name="坂井 壱謙" userId="a02042c3-a997-429c-9dc2-5a842535305c" providerId="ADAL" clId="{0E920D34-191F-4E27-9775-CF48BF5B0BC9}" dt="2025-10-17T08:00:55.570" v="12176"/>
        <pc:sldMkLst>
          <pc:docMk/>
          <pc:sldMk cId="1396690220" sldId="300"/>
        </pc:sldMkLst>
      </pc:sldChg>
      <pc:sldChg chg="addSp delSp modSp add mod">
        <pc:chgData name="坂井 壱謙" userId="a02042c3-a997-429c-9dc2-5a842535305c" providerId="ADAL" clId="{0E920D34-191F-4E27-9775-CF48BF5B0BC9}" dt="2025-10-17T08:39:28.312" v="12239" actId="732"/>
        <pc:sldMkLst>
          <pc:docMk/>
          <pc:sldMk cId="3409044985" sldId="306"/>
        </pc:sldMkLst>
        <pc:spChg chg="mod">
          <ac:chgData name="坂井 壱謙" userId="a02042c3-a997-429c-9dc2-5a842535305c" providerId="ADAL" clId="{0E920D34-191F-4E27-9775-CF48BF5B0BC9}" dt="2025-10-17T08:39:14.476" v="12238" actId="20577"/>
          <ac:spMkLst>
            <pc:docMk/>
            <pc:sldMk cId="3409044985" sldId="306"/>
            <ac:spMk id="2" creationId="{4730A7DF-AB4E-891E-A7A2-589FF629368A}"/>
          </ac:spMkLst>
        </pc:spChg>
        <pc:picChg chg="add mod modCrop">
          <ac:chgData name="坂井 壱謙" userId="a02042c3-a997-429c-9dc2-5a842535305c" providerId="ADAL" clId="{0E920D34-191F-4E27-9775-CF48BF5B0BC9}" dt="2025-10-17T08:39:28.312" v="12239" actId="732"/>
          <ac:picMkLst>
            <pc:docMk/>
            <pc:sldMk cId="3409044985" sldId="306"/>
            <ac:picMk id="12" creationId="{D770B9F1-86B2-A634-073F-02662EE49BB7}"/>
          </ac:picMkLst>
        </pc:picChg>
      </pc:sldChg>
      <pc:sldChg chg="modSp add mod">
        <pc:chgData name="坂井 壱謙" userId="a02042c3-a997-429c-9dc2-5a842535305c" providerId="ADAL" clId="{0E920D34-191F-4E27-9775-CF48BF5B0BC9}" dt="2025-11-10T06:25:25.090" v="12799" actId="20577"/>
        <pc:sldMkLst>
          <pc:docMk/>
          <pc:sldMk cId="110383466" sldId="307"/>
        </pc:sldMkLst>
        <pc:spChg chg="mod">
          <ac:chgData name="坂井 壱謙" userId="a02042c3-a997-429c-9dc2-5a842535305c" providerId="ADAL" clId="{0E920D34-191F-4E27-9775-CF48BF5B0BC9}" dt="2025-11-10T06:25:25.090" v="12799" actId="20577"/>
          <ac:spMkLst>
            <pc:docMk/>
            <pc:sldMk cId="110383466" sldId="307"/>
            <ac:spMk id="3" creationId="{2EAF87B0-BBE2-DC6C-3698-B8103373AB1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8645D-7094-454A-9272-DBF2E8D56680}" type="datetimeFigureOut">
              <a:rPr kumimoji="1" lang="ja-JP" altLang="en-US" smtClean="0"/>
              <a:t>2025/11/10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ACA35-4236-754B-83C3-BD6D1D3ABF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1127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CAB3C-DABD-D762-A63A-38E1D386E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B437ED6-E161-D143-2313-6C6C525210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395BE74-67C6-4D11-C51F-920C2252F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14C586-92E1-D498-1CD7-F13A6D6E4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ACA35-4236-754B-83C3-BD6D1D3ABF4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843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4E9C8-5228-FF9F-D684-F634D09EC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32BC266-50CB-C929-7E0B-E01C158C8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3D93053-9DD4-C85E-1437-9098E1024F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E2D1137-15E4-80A5-BA16-048B0609A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ACA35-4236-754B-83C3-BD6D1D3ABF4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4624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33461-B821-8C64-024C-D69A164D6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5BF7308-173A-F6D4-7F20-F7ACC300D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DE34A84-7363-90B1-5540-65587A1C4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3B6CE08-7314-B0EF-E7AB-A7FB24B525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ACA35-4236-754B-83C3-BD6D1D3ABF4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7284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5EC81-F725-BFDD-F431-C58C12ECB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BEABA65-7FF3-9E11-EEF5-10CE84436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9451EDF-DAA0-DE2A-7ACD-59421523E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10463A2-1259-290A-4047-9958337C9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ACA35-4236-754B-83C3-BD6D1D3ABF4D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5539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89968-3008-2E26-D667-D63919E8B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3612149-24AC-AE22-912F-7D667849B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F455553-F20E-DE57-31B2-5A0D9AC0DE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DED29B-9AA2-C48F-453B-240BFC430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ACA35-4236-754B-83C3-BD6D1D3ABF4D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4268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DCAF1-C95F-801D-6498-C79CE4F51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A2FEB3A-71C0-5CA6-CB73-86CD0D28A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C354051-D805-6AE0-4672-A777EFC27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A27AC4-9F39-E0AE-17A5-08BA724720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ACA35-4236-754B-83C3-BD6D1D3ABF4D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29509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B2E45-9935-2E10-1D87-83ACACD67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F10DAA7-BE9B-A589-C608-36AC205DD2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F68F026-08E0-B144-D8B9-A9694F884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D758A3D-5C3B-E977-99FA-E5D9F559F6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ACA35-4236-754B-83C3-BD6D1D3ABF4D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7015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ここでは一覧にしているが、</a:t>
            </a:r>
            <a:r>
              <a:rPr kumimoji="1" lang="en-US" altLang="ja-JP" dirty="0"/>
              <a:t>UI</a:t>
            </a:r>
            <a:r>
              <a:rPr kumimoji="1" lang="ja-JP" altLang="en-US" dirty="0"/>
              <a:t>や帳票など、目に見えるものを「外部機能要件」、</a:t>
            </a:r>
            <a:r>
              <a:rPr kumimoji="1" lang="en-US" altLang="ja-JP" dirty="0"/>
              <a:t>API</a:t>
            </a:r>
            <a:r>
              <a:rPr kumimoji="1" lang="ja-JP" altLang="en-US" dirty="0"/>
              <a:t>やバッチなど、目に見えないものを「内部機能要件」として定義するのが一般的。</a:t>
            </a:r>
            <a:br>
              <a:rPr kumimoji="1" lang="en-US" altLang="ja-JP" dirty="0"/>
            </a:br>
            <a:r>
              <a:rPr kumimoji="1" lang="ja-JP" altLang="en-US" dirty="0"/>
              <a:t>各機能毎に說明資料、フロー図などをつくることもある。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ACA35-4236-754B-83C3-BD6D1D3ABF4D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6164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A6EF1-43CF-F0F9-E6D0-8222F8C2C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97CF32E-D1F1-4C1D-8E58-D2F9F7486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A353523-2C38-069C-79CE-D9B1A284B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ここでは一覧にしているが、</a:t>
            </a:r>
            <a:r>
              <a:rPr kumimoji="1" lang="en-US" altLang="ja-JP" dirty="0"/>
              <a:t>UI</a:t>
            </a:r>
            <a:r>
              <a:rPr kumimoji="1" lang="ja-JP" altLang="en-US" dirty="0"/>
              <a:t>や帳票など、目に見えるものを「外部機能要件」、</a:t>
            </a:r>
            <a:r>
              <a:rPr kumimoji="1" lang="en-US" altLang="ja-JP" dirty="0"/>
              <a:t>API</a:t>
            </a:r>
            <a:r>
              <a:rPr kumimoji="1" lang="ja-JP" altLang="en-US" dirty="0"/>
              <a:t>やバッチなど、目に見えないものを「内部機能要件」として定義するのが一般的。</a:t>
            </a:r>
            <a:br>
              <a:rPr kumimoji="1" lang="en-US" altLang="ja-JP" dirty="0"/>
            </a:br>
            <a:r>
              <a:rPr kumimoji="1" lang="ja-JP" altLang="en-US" dirty="0"/>
              <a:t>各機能毎に說明資料、フロー図などをつくることもある。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D80FA2E-56E2-38B3-FF23-6CE5E04713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ACA35-4236-754B-83C3-BD6D1D3ABF4D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4477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68DEE-89A0-16EE-1B5B-5E8918411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3297865-A5CF-E5B6-F153-F6AB66F7DD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CB915B3-ACBB-4666-39F5-2BED231A9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ここでは一覧にしているが、</a:t>
            </a:r>
            <a:r>
              <a:rPr kumimoji="1" lang="en-US" altLang="ja-JP" dirty="0"/>
              <a:t>UI</a:t>
            </a:r>
            <a:r>
              <a:rPr kumimoji="1" lang="ja-JP" altLang="en-US" dirty="0"/>
              <a:t>や帳票など、目に見えるものを「外部機能要件」、</a:t>
            </a:r>
            <a:r>
              <a:rPr kumimoji="1" lang="en-US" altLang="ja-JP" dirty="0"/>
              <a:t>API</a:t>
            </a:r>
            <a:r>
              <a:rPr kumimoji="1" lang="ja-JP" altLang="en-US" dirty="0"/>
              <a:t>やバッチなど、目に見えないものを「内部機能要件」として定義するのが一般的。</a:t>
            </a:r>
            <a:br>
              <a:rPr kumimoji="1" lang="en-US" altLang="ja-JP" dirty="0"/>
            </a:br>
            <a:r>
              <a:rPr kumimoji="1" lang="ja-JP" altLang="en-US" dirty="0"/>
              <a:t>各機能毎に說明資料、フロー図などをつくることもある。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09543E-6E23-AC32-EDAA-D2D91EA22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ACA35-4236-754B-83C3-BD6D1D3ABF4D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49603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ACA35-4236-754B-83C3-BD6D1D3ABF4D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23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41784B-4C97-A842-A51F-E9FC1FC00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058886"/>
            <a:ext cx="10515598" cy="742857"/>
          </a:xfrm>
        </p:spPr>
        <p:txBody>
          <a:bodyPr anchor="ctr">
            <a:normAutofit/>
          </a:bodyPr>
          <a:lstStyle>
            <a:lvl1pPr algn="ctr">
              <a:defRPr sz="4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3B15453-7AA7-5F45-B574-393DFC7D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965714"/>
            <a:ext cx="9144000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A1454B-EB1E-9D45-9C70-2971D0A1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86830"/>
            <a:ext cx="2743200" cy="365125"/>
          </a:xfrm>
        </p:spPr>
        <p:txBody>
          <a:bodyPr/>
          <a:lstStyle/>
          <a:p>
            <a:fld id="{EC28EDEB-BADD-A949-A37D-344F76CBFC94}" type="datetime1">
              <a:rPr kumimoji="1" lang="ja-JP" altLang="en-US" smtClean="0"/>
              <a:t>2025/11/10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F4D7D2-2426-464B-8D7B-87C4EBB67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86830"/>
            <a:ext cx="2743200" cy="365125"/>
          </a:xfrm>
        </p:spPr>
        <p:txBody>
          <a:bodyPr/>
          <a:lstStyle/>
          <a:p>
            <a:fld id="{462052E6-07CA-9B46-B866-FDE18BF7450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83A8AF0-EEB5-6C4E-9263-64DC090B51F5}"/>
              </a:ext>
            </a:extLst>
          </p:cNvPr>
          <p:cNvSpPr/>
          <p:nvPr userDrawn="1"/>
        </p:nvSpPr>
        <p:spPr>
          <a:xfrm>
            <a:off x="838200" y="2801743"/>
            <a:ext cx="10515599" cy="70666"/>
          </a:xfrm>
          <a:prstGeom prst="rect">
            <a:avLst/>
          </a:prstGeom>
          <a:solidFill>
            <a:srgbClr val="134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フッター プレースホルダー 4">
            <a:extLst>
              <a:ext uri="{FF2B5EF4-FFF2-40B4-BE49-F238E27FC236}">
                <a16:creationId xmlns:a16="http://schemas.microsoft.com/office/drawing/2014/main" id="{3BF2BF30-7FDD-818C-A939-51A3D7AC2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86830"/>
            <a:ext cx="4114800" cy="365125"/>
          </a:xfrm>
        </p:spPr>
        <p:txBody>
          <a:bodyPr/>
          <a:lstStyle/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60112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D013073-5F8E-204D-96F7-C4CC28FAAFFE}"/>
              </a:ext>
            </a:extLst>
          </p:cNvPr>
          <p:cNvSpPr/>
          <p:nvPr userDrawn="1"/>
        </p:nvSpPr>
        <p:spPr>
          <a:xfrm>
            <a:off x="11251096" y="6341111"/>
            <a:ext cx="543339" cy="516889"/>
          </a:xfrm>
          <a:prstGeom prst="rect">
            <a:avLst/>
          </a:prstGeom>
          <a:solidFill>
            <a:srgbClr val="134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AB3C7C5-E79F-0B47-B08A-7D62EFE45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565" y="196162"/>
            <a:ext cx="11396870" cy="50445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0AC78C-3506-E648-9747-5B4816F31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65" y="805967"/>
            <a:ext cx="11396870" cy="553514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3ADF0C-14D2-6E4C-B739-5125B307E2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7565" y="6386830"/>
            <a:ext cx="2743200" cy="365125"/>
          </a:xfrm>
        </p:spPr>
        <p:txBody>
          <a:bodyPr/>
          <a:lstStyle/>
          <a:p>
            <a:fld id="{952987D4-63BE-1D49-9FA4-4DF8DCD0E85B}" type="datetime1">
              <a:rPr kumimoji="1" lang="ja-JP" altLang="en-US" smtClean="0"/>
              <a:t>2025/11/10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69470A-1FD3-D947-9EA7-396A4272C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86830"/>
            <a:ext cx="4114800" cy="365125"/>
          </a:xfrm>
        </p:spPr>
        <p:txBody>
          <a:bodyPr/>
          <a:lstStyle/>
          <a:p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ABDFF7-C130-2548-ABCB-FFFDE44B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1095" y="6386830"/>
            <a:ext cx="543339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62052E6-07CA-9B46-B866-FDE18BF74505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8115502-DA04-EF4E-9533-E4783D4FEFBF}"/>
              </a:ext>
            </a:extLst>
          </p:cNvPr>
          <p:cNvSpPr/>
          <p:nvPr userDrawn="1"/>
        </p:nvSpPr>
        <p:spPr>
          <a:xfrm>
            <a:off x="397565" y="730430"/>
            <a:ext cx="8791259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C247F8A-64A6-7D4B-8FB2-0950C7E15D07}"/>
              </a:ext>
            </a:extLst>
          </p:cNvPr>
          <p:cNvSpPr/>
          <p:nvPr userDrawn="1"/>
        </p:nvSpPr>
        <p:spPr>
          <a:xfrm>
            <a:off x="9188824" y="730430"/>
            <a:ext cx="2605611" cy="45719"/>
          </a:xfrm>
          <a:prstGeom prst="rect">
            <a:avLst/>
          </a:prstGeom>
          <a:solidFill>
            <a:srgbClr val="134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5567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19087-08F3-C447-AF65-1A7E05C4D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A87E87D-56A3-5D4F-B594-9B44380F7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BB792-812D-EA44-9493-60708746D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4A8E-76F0-BD45-8F86-1DA220873064}" type="datetime1">
              <a:rPr kumimoji="1" lang="ja-JP" altLang="en-US" smtClean="0"/>
              <a:t>2025/11/10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E6F7FF-4793-5848-9A91-130704385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2FE743-148A-224C-A2C7-0C9DD5153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604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C65667-C887-B240-B575-6971DE7DB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6D6C50-7432-E745-9CBA-2B16315D84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DA81660-9CBB-7C45-A9D0-2BAD01577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D922FD-1E82-274B-9770-F2F791F0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DBC7F-D19A-0343-968E-7A0CB7326BD0}" type="datetime1">
              <a:rPr kumimoji="1" lang="ja-JP" altLang="en-US" smtClean="0"/>
              <a:t>2025/11/10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998DE4C-E2C7-2E4E-879E-53FEC10E0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E505ED-F819-AE49-AD59-A41CBBF4E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983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0C66-7488-B84E-94E2-292E150FE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9997CB-62D1-184D-B2A8-B22C75DAB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9935119-6F35-0640-B700-1F021EF40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13400A3-25D2-524A-8F89-F2F536E39A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A06E982-011E-6B44-BF07-1EB62A2EBB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EAAE6FA-8763-7547-B17B-37F7660B2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E50F6-BF54-3B43-9E7F-30C13CAE09A7}" type="datetime1">
              <a:rPr kumimoji="1" lang="ja-JP" altLang="en-US" smtClean="0"/>
              <a:t>2025/11/10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DED77A2-42F9-3B4E-9257-74AA9E6A8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88A29A9-8A2A-A14B-B5D5-FC1C4B4EA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765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2ECC5F-C96A-BE4C-8B42-13ECD65E9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0ECC02A-68D5-5D4A-9344-6688F38F0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6D2AC-C96B-C441-A7EE-EFB2ABD252C0}" type="datetime1">
              <a:rPr kumimoji="1" lang="ja-JP" altLang="en-US" smtClean="0"/>
              <a:t>2025/11/10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7F7F00A-CFCB-304E-A691-44227BF10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24064E1-CAB3-B442-A9FD-64C972B34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600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6EFA031-9A6A-7C47-89B9-30C07124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3AB25-9BC2-5A46-A04D-5327E4F35EB2}" type="datetime1">
              <a:rPr kumimoji="1" lang="ja-JP" altLang="en-US" smtClean="0"/>
              <a:t>2025/11/10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AF362C-477C-2D47-B721-62A372494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4FD4AA-B12A-5344-B12C-93482E29E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3970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98EB18-F44C-5B47-BA81-5869FB328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6CB805-EE3A-9941-9B12-95CCFD562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6B04B39-E005-1B44-90D2-C8B523707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82BAB93-9DB0-544D-917A-0263F093A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B335-064C-984F-9B19-9EDC8B133EDF}" type="datetime1">
              <a:rPr kumimoji="1" lang="ja-JP" altLang="en-US" smtClean="0"/>
              <a:t>2025/11/10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A7E16A-ADBE-DF4B-8757-481FB11F8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EBC8098-6B75-C149-B698-69687C035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9258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4BF09B-6036-574D-BBB2-3DA730C00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066FB75-A475-0F48-9537-782EFFA56E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C566E14-4C3A-2149-90F6-0972351600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BE010DD-1114-9D41-8D65-EE0102496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FCF7-E666-6144-BAA7-34E70595AF75}" type="datetime1">
              <a:rPr kumimoji="1" lang="ja-JP" altLang="en-US" smtClean="0"/>
              <a:t>2025/11/10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6DC0700-471A-4849-B5B4-22D6B36AE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5320C6-F1F1-D44B-857C-744C071C4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4866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ED6B60-CAA6-0441-AA00-C83FCB722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EEDCDB4-EA27-B649-814F-729E086D7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4CCE19-FFFA-C742-83EC-FD6C94D80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D067-023C-7441-9D68-F6D230C546B7}" type="datetime1">
              <a:rPr kumimoji="1" lang="ja-JP" altLang="en-US" smtClean="0"/>
              <a:t>2025/11/10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470F16-91CC-9F43-A813-F44F22B1D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C244F3-F0F9-CE49-A15C-3F6C9984F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3390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90425CA-DF6C-D049-B0F7-38A0F0B4C2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7A9F20D-5F3B-B944-97E2-CA110EBB7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6151E1-0B93-B04F-A400-0FC7CC807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B4445-EA75-9B46-9B2E-BE02F9884A6B}" type="datetime1">
              <a:rPr kumimoji="1" lang="ja-JP" altLang="en-US" smtClean="0"/>
              <a:t>2025/11/10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7C1B08-8F72-B14B-A771-8F8163197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321529-C59F-694B-9D57-F8261B227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013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384990A-6A82-7D4A-8249-EE4F99502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8DA022-1E64-0644-8828-CEA2F8873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40296C-8207-2143-9130-743BF6F06C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1EC3668C-4672-9D42-BA67-D988628B8251}" type="datetime1">
              <a:rPr lang="ja-JP" altLang="en-US" smtClean="0"/>
              <a:pPr/>
              <a:t>2025/11/10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57BC24-807F-7445-A274-97D5C63BD7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8B9EAC-1314-584C-89D0-2F28120927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462052E6-07CA-9B46-B866-FDE18BF74505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30206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qiita.com/manabito76/items/fe91eefe11a74dcf5126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AED40B-1B23-6948-89B3-220CD171B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622324"/>
            <a:ext cx="10515598" cy="117942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ja-JP" altLang="en-US" sz="3100" dirty="0"/>
              <a:t>業務利用を想定したスレッドアプリ開発</a:t>
            </a:r>
            <a:br>
              <a:rPr lang="en-US" altLang="ja-JP" sz="3100" dirty="0"/>
            </a:br>
            <a:r>
              <a:rPr lang="ja-JP" altLang="en-US" dirty="0"/>
              <a:t>要件定義書</a:t>
            </a:r>
            <a:endParaRPr kumimoji="1" lang="ja-JP" altLang="en-US" sz="36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AE313A0-35E2-4F4C-BEDF-EC60074526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2025</a:t>
            </a:r>
            <a:r>
              <a:rPr kumimoji="1" lang="ja-JP" altLang="en-US" dirty="0"/>
              <a:t>年</a:t>
            </a:r>
            <a:r>
              <a:rPr kumimoji="1" lang="en-US" altLang="ja-JP" dirty="0"/>
              <a:t>11</a:t>
            </a:r>
            <a:r>
              <a:rPr kumimoji="1" lang="ja-JP" altLang="en-US" dirty="0"/>
              <a:t>月</a:t>
            </a:r>
            <a:r>
              <a:rPr lang="en-US" altLang="ja-JP" dirty="0"/>
              <a:t>10</a:t>
            </a:r>
            <a:r>
              <a:rPr kumimoji="1" lang="ja-JP" altLang="en-US" dirty="0"/>
              <a:t>日最終版</a:t>
            </a:r>
            <a:endParaRPr kumimoji="1" lang="en-US" altLang="ja-JP" dirty="0"/>
          </a:p>
          <a:p>
            <a:r>
              <a:rPr lang="ja-JP" altLang="en-US" dirty="0"/>
              <a:t>坂井壱謙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B3D9C38-E1BA-D14B-B9C5-31A6CE1F9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7803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1AD7DD-A7F5-E145-99FC-E6D32A41B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目次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0E797-C1FC-4E49-8C48-D1B9DDC12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130531"/>
            <a:ext cx="11170547" cy="5054138"/>
          </a:xfrm>
        </p:spPr>
        <p:txBody>
          <a:bodyPr numCol="2">
            <a:normAutofit/>
          </a:bodyPr>
          <a:lstStyle/>
          <a:p>
            <a:r>
              <a:rPr lang="ja-JP" altLang="en-US" sz="3600" b="1" dirty="0"/>
              <a:t>システム化の背景・目的</a:t>
            </a:r>
            <a:endParaRPr lang="ja-JP" altLang="en-US" sz="3600" dirty="0"/>
          </a:p>
          <a:p>
            <a:r>
              <a:rPr lang="ja-JP" altLang="en-US" sz="3600" b="1" dirty="0"/>
              <a:t>開発範囲</a:t>
            </a:r>
            <a:endParaRPr lang="ja-JP" altLang="en-US" sz="3600" dirty="0"/>
          </a:p>
          <a:p>
            <a:pPr lvl="1"/>
            <a:r>
              <a:rPr lang="ja-JP" altLang="en-US" sz="3200" dirty="0"/>
              <a:t>今回対象とする業務や機能</a:t>
            </a:r>
          </a:p>
          <a:p>
            <a:pPr lvl="1"/>
            <a:r>
              <a:rPr lang="ja-JP" altLang="en-US" sz="3200" dirty="0"/>
              <a:t>今回対象外とするもの</a:t>
            </a:r>
          </a:p>
          <a:p>
            <a:r>
              <a:rPr lang="ja-JP" altLang="en-US" sz="3600" b="1" dirty="0"/>
              <a:t>利用者と利用シーン</a:t>
            </a:r>
            <a:endParaRPr lang="ja-JP" altLang="en-US" sz="3600" dirty="0"/>
          </a:p>
          <a:p>
            <a:pPr lvl="1"/>
            <a:r>
              <a:rPr lang="ja-JP" altLang="en-US" sz="3200" dirty="0"/>
              <a:t>誰が使うか</a:t>
            </a:r>
          </a:p>
          <a:p>
            <a:pPr lvl="1"/>
            <a:r>
              <a:rPr lang="ja-JP" altLang="en-US" sz="3200" dirty="0"/>
              <a:t>どんな場面で使うか</a:t>
            </a:r>
            <a:endParaRPr lang="en-US" altLang="ja-JP" sz="3200" dirty="0"/>
          </a:p>
          <a:p>
            <a:pPr marL="457200" lvl="1" indent="0">
              <a:buNone/>
            </a:pPr>
            <a:endParaRPr lang="en-US" altLang="ja-JP" sz="3200" dirty="0"/>
          </a:p>
          <a:p>
            <a:pPr marL="457200" lvl="1" indent="0">
              <a:buNone/>
            </a:pPr>
            <a:endParaRPr lang="ja-JP" altLang="en-US" sz="3200" dirty="0"/>
          </a:p>
          <a:p>
            <a:r>
              <a:rPr lang="ja-JP" altLang="en-US" sz="3600" b="1" dirty="0"/>
              <a:t>機能要件</a:t>
            </a:r>
            <a:endParaRPr lang="ja-JP" altLang="en-US" sz="3600" dirty="0"/>
          </a:p>
          <a:p>
            <a:pPr lvl="1"/>
            <a:r>
              <a:rPr lang="ja-JP" altLang="en-US" sz="3200" dirty="0"/>
              <a:t>概要</a:t>
            </a:r>
          </a:p>
          <a:p>
            <a:pPr lvl="1"/>
            <a:r>
              <a:rPr lang="ja-JP" altLang="en-US" sz="3200" dirty="0"/>
              <a:t>認証・投稿・閲覧</a:t>
            </a:r>
          </a:p>
          <a:p>
            <a:pPr lvl="1"/>
            <a:r>
              <a:rPr lang="ja-JP" altLang="en-US" sz="3200" dirty="0"/>
              <a:t>編集・削除・その他</a:t>
            </a:r>
          </a:p>
          <a:p>
            <a:r>
              <a:rPr lang="ja-JP" altLang="en-US" sz="3600" b="1" dirty="0"/>
              <a:t>前提・制約条件</a:t>
            </a:r>
            <a:endParaRPr lang="en-US" altLang="ja-JP" sz="3600" b="1" dirty="0"/>
          </a:p>
          <a:p>
            <a:pPr lvl="1"/>
            <a:r>
              <a:rPr lang="ja-JP" altLang="en-US" sz="3200" dirty="0"/>
              <a:t>使用言語</a:t>
            </a:r>
            <a:endParaRPr lang="en-US" altLang="ja-JP" sz="3200" dirty="0"/>
          </a:p>
          <a:p>
            <a:pPr lvl="1"/>
            <a:r>
              <a:rPr lang="ja-JP" altLang="en-US" sz="3200" dirty="0"/>
              <a:t>使用ツール</a:t>
            </a:r>
            <a:endParaRPr lang="en-US" altLang="ja-JP" sz="3200" b="1" dirty="0"/>
          </a:p>
          <a:p>
            <a:r>
              <a:rPr lang="ja-JP" altLang="en-US" sz="3600" b="1" dirty="0"/>
              <a:t>プロジェクトスケジュール</a:t>
            </a:r>
            <a:endParaRPr lang="en-US" altLang="ja-JP" sz="3600" b="1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45D0F1A-A5A9-8441-BFC8-4DEDE66E7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01889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E2EAB-0555-0B32-65FF-EE7B1147E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6437E1-B506-A0BF-8289-C98A7D062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システム化の背景・目的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1D630B-65BA-D82E-D034-1CF8007FF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812" y="1012152"/>
            <a:ext cx="11396869" cy="5164529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210000"/>
              </a:lnSpc>
              <a:buNone/>
            </a:pPr>
            <a:r>
              <a:rPr lang="ja-JP" altLang="en-US" sz="2000" dirty="0"/>
              <a:t>　</a:t>
            </a:r>
            <a:r>
              <a:rPr lang="ja-JP" altLang="en-US" sz="2300" dirty="0"/>
              <a:t>　</a:t>
            </a:r>
            <a:r>
              <a:rPr lang="ja-JP" altLang="en-US" sz="2300" b="1" dirty="0"/>
              <a:t>背景：会社で使われるシステムを作る</a:t>
            </a:r>
            <a:endParaRPr lang="ja-JP" altLang="en-US" sz="2000" b="1" dirty="0"/>
          </a:p>
          <a:p>
            <a:pPr marL="0" indent="0">
              <a:lnSpc>
                <a:spcPct val="210000"/>
              </a:lnSpc>
              <a:buNone/>
            </a:pPr>
            <a:r>
              <a:rPr lang="en-US" altLang="ja-JP" sz="2000" dirty="0"/>
              <a:t>	</a:t>
            </a:r>
            <a:r>
              <a:rPr lang="ja-JP" altLang="en-US" sz="2000" dirty="0"/>
              <a:t>・現在多くの企業で取り入れられている、</a:t>
            </a:r>
            <a:r>
              <a:rPr lang="en-US" altLang="ja-JP" sz="2000" dirty="0"/>
              <a:t>slack</a:t>
            </a:r>
            <a:r>
              <a:rPr lang="ja-JP" altLang="en-US" sz="2000" dirty="0"/>
              <a:t>や</a:t>
            </a:r>
            <a:r>
              <a:rPr lang="en-US" altLang="ja-JP" sz="2000" dirty="0"/>
              <a:t>Teams</a:t>
            </a:r>
            <a:r>
              <a:rPr lang="ja-JP" altLang="en-US" sz="2000" dirty="0"/>
              <a:t>等のスレッドアプリを想定した開発</a:t>
            </a:r>
          </a:p>
          <a:p>
            <a:pPr marL="0" indent="0">
              <a:lnSpc>
                <a:spcPct val="210000"/>
              </a:lnSpc>
              <a:buNone/>
            </a:pPr>
            <a:r>
              <a:rPr lang="en-US" altLang="ja-JP" sz="2000" dirty="0"/>
              <a:t>	</a:t>
            </a:r>
            <a:r>
              <a:rPr lang="ja-JP" altLang="en-US" sz="2000" dirty="0"/>
              <a:t>・これらはリアルタイムな議論や情報共有の中心的基盤であり、社内コミュニケーションの効率化に不可欠な存在である</a:t>
            </a:r>
            <a:endParaRPr lang="en-US" altLang="ja-JP" sz="2000" dirty="0"/>
          </a:p>
          <a:p>
            <a:pPr marL="0" indent="0">
              <a:lnSpc>
                <a:spcPct val="210000"/>
              </a:lnSpc>
              <a:buNone/>
            </a:pPr>
            <a:r>
              <a:rPr lang="en-US" altLang="ja-JP" sz="2000" dirty="0"/>
              <a:t>	</a:t>
            </a:r>
            <a:r>
              <a:rPr lang="ja-JP" altLang="en-US" sz="2000" dirty="0"/>
              <a:t>・短期間で全機能の実装は現実的ではないため、まずはデータ構造と表示ロジックの理解に直結する「スレッド機能」に絞る</a:t>
            </a:r>
          </a:p>
          <a:p>
            <a:pPr marL="0" indent="0">
              <a:lnSpc>
                <a:spcPct val="210000"/>
              </a:lnSpc>
              <a:buNone/>
            </a:pPr>
            <a:r>
              <a:rPr lang="ja-JP" altLang="en-US" sz="2000" dirty="0"/>
              <a:t>　　</a:t>
            </a:r>
            <a:r>
              <a:rPr lang="ja-JP" altLang="en-US" sz="2300" b="1" dirty="0"/>
              <a:t>目的：構造の理解につながるシステムを作る</a:t>
            </a:r>
            <a:endParaRPr lang="en-US" altLang="ja-JP" sz="1800" dirty="0"/>
          </a:p>
          <a:p>
            <a:pPr marL="457200" lvl="1" indent="0">
              <a:lnSpc>
                <a:spcPct val="210000"/>
              </a:lnSpc>
              <a:buNone/>
            </a:pPr>
            <a:r>
              <a:rPr lang="en-US" altLang="ja-JP" sz="1800" dirty="0"/>
              <a:t>	</a:t>
            </a:r>
            <a:r>
              <a:rPr lang="ja-JP" altLang="en-US" sz="1800" dirty="0"/>
              <a:t>・</a:t>
            </a:r>
            <a:r>
              <a:rPr lang="en-US" altLang="ja-JP" sz="1800" dirty="0"/>
              <a:t>WEB</a:t>
            </a:r>
            <a:r>
              <a:rPr lang="ja-JP" altLang="en-US" sz="1800" dirty="0"/>
              <a:t>アプリ基本構造の理解（ブラウザ→サーバー→</a:t>
            </a:r>
            <a:r>
              <a:rPr lang="en-US" altLang="ja-JP" sz="1800" dirty="0"/>
              <a:t>DB</a:t>
            </a:r>
            <a:r>
              <a:rPr lang="ja-JP" altLang="en-US" sz="1800" dirty="0"/>
              <a:t>→サーバー→ブラウザ）（フロント・バック）</a:t>
            </a:r>
            <a:endParaRPr lang="en-US" altLang="ja-JP" sz="1800" dirty="0"/>
          </a:p>
          <a:p>
            <a:pPr marL="457200" lvl="1" indent="0">
              <a:lnSpc>
                <a:spcPct val="210000"/>
              </a:lnSpc>
              <a:buNone/>
            </a:pPr>
            <a:r>
              <a:rPr lang="en-US" altLang="ja-JP" sz="1800" dirty="0"/>
              <a:t>	</a:t>
            </a:r>
            <a:r>
              <a:rPr lang="ja-JP" altLang="en-US" sz="1800" dirty="0"/>
              <a:t>・環境構築によるシステム構造の理解</a:t>
            </a:r>
            <a:endParaRPr lang="en-US" altLang="ja-JP" sz="1800" dirty="0"/>
          </a:p>
          <a:p>
            <a:pPr marL="457200" lvl="1" indent="0">
              <a:lnSpc>
                <a:spcPct val="210000"/>
              </a:lnSpc>
              <a:buNone/>
            </a:pPr>
            <a:r>
              <a:rPr lang="en-US" altLang="ja-JP" sz="1800" dirty="0"/>
              <a:t>	</a:t>
            </a:r>
            <a:r>
              <a:rPr lang="ja-JP" altLang="en-US" sz="1800" dirty="0"/>
              <a:t>・サーバーサイド処理の体験（</a:t>
            </a:r>
            <a:r>
              <a:rPr lang="en-US" altLang="ja-JP" sz="1800" dirty="0"/>
              <a:t>POST</a:t>
            </a:r>
            <a:r>
              <a:rPr lang="ja-JP" altLang="en-US" sz="1800" dirty="0"/>
              <a:t>、バリデーション、</a:t>
            </a:r>
            <a:r>
              <a:rPr lang="en-US" altLang="ja-JP" sz="1800" dirty="0"/>
              <a:t>INSERT</a:t>
            </a:r>
            <a:r>
              <a:rPr lang="ja-JP" altLang="en-US" sz="1800" dirty="0"/>
              <a:t>・</a:t>
            </a:r>
            <a:r>
              <a:rPr lang="en-US" altLang="ja-JP" sz="1800" dirty="0"/>
              <a:t>SELECT</a:t>
            </a:r>
            <a:r>
              <a:rPr lang="ja-JP" altLang="en-US" sz="1800" dirty="0"/>
              <a:t>、</a:t>
            </a:r>
            <a:r>
              <a:rPr lang="en-US" altLang="ja-JP" sz="1800" dirty="0"/>
              <a:t>SSR</a:t>
            </a:r>
            <a:r>
              <a:rPr lang="ja-JP" altLang="en-US" sz="1800" dirty="0"/>
              <a:t>）</a:t>
            </a:r>
            <a:endParaRPr lang="en-US" altLang="ja-JP" sz="1800" dirty="0"/>
          </a:p>
          <a:p>
            <a:pPr marL="457200" lvl="1" indent="0">
              <a:lnSpc>
                <a:spcPct val="210000"/>
              </a:lnSpc>
              <a:buNone/>
            </a:pPr>
            <a:r>
              <a:rPr lang="en-US" altLang="ja-JP" sz="1800" dirty="0"/>
              <a:t>	</a:t>
            </a:r>
            <a:r>
              <a:rPr lang="ja-JP" altLang="en-US" sz="1800" dirty="0"/>
              <a:t>・データベース設計と操作</a:t>
            </a:r>
            <a:endParaRPr lang="en-US" altLang="ja-JP" sz="1800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104FA21-8772-C0D5-B315-E80A2D0D0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41307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81F7A-43EC-48B1-A0FD-3EC919A4D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6A3CA5-6F70-9EA4-F68E-FD3D83D5C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システム化の背景・目的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AF87B0-BBE2-DC6C-3698-B8103373A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812" y="1012152"/>
            <a:ext cx="11396869" cy="5164529"/>
          </a:xfrm>
        </p:spPr>
        <p:txBody>
          <a:bodyPr>
            <a:normAutofit/>
          </a:bodyPr>
          <a:lstStyle/>
          <a:p>
            <a:pPr marL="0" indent="0">
              <a:lnSpc>
                <a:spcPct val="210000"/>
              </a:lnSpc>
              <a:buNone/>
            </a:pPr>
            <a:r>
              <a:rPr lang="ja-JP" altLang="en-US" sz="2000" dirty="0"/>
              <a:t>　</a:t>
            </a:r>
            <a:r>
              <a:rPr lang="ja-JP" altLang="en-US" sz="2300" dirty="0"/>
              <a:t>　</a:t>
            </a:r>
            <a:r>
              <a:rPr lang="en-US" altLang="ja-JP" sz="2300" b="1" dirty="0"/>
              <a:t>1.</a:t>
            </a:r>
            <a:r>
              <a:rPr lang="ja-JP" altLang="en-US" sz="2300" b="1" dirty="0"/>
              <a:t> 構造理解のための</a:t>
            </a:r>
            <a:r>
              <a:rPr lang="en-US" altLang="ja-JP" sz="2300" b="1" dirty="0"/>
              <a:t>WEB</a:t>
            </a:r>
            <a:r>
              <a:rPr lang="ja-JP" altLang="en-US" sz="2300" b="1" dirty="0"/>
              <a:t>アプリ開発</a:t>
            </a:r>
            <a:endParaRPr lang="ja-JP" altLang="en-US" sz="2000" b="1" dirty="0"/>
          </a:p>
          <a:p>
            <a:pPr marL="0" indent="0">
              <a:lnSpc>
                <a:spcPct val="210000"/>
              </a:lnSpc>
              <a:buNone/>
            </a:pPr>
            <a:r>
              <a:rPr lang="en-US" altLang="ja-JP" sz="2000" dirty="0"/>
              <a:t>	</a:t>
            </a:r>
            <a:r>
              <a:rPr lang="ja-JP" altLang="en-US" sz="2000" dirty="0"/>
              <a:t>・</a:t>
            </a:r>
            <a:r>
              <a:rPr lang="en-US" altLang="ja-JP" sz="2000" dirty="0"/>
              <a:t>WEB</a:t>
            </a:r>
            <a:r>
              <a:rPr lang="ja-JP" altLang="en-US" sz="2000" dirty="0"/>
              <a:t>アプリ基本構造やサーバサイド処理の構造を理解する</a:t>
            </a:r>
            <a:endParaRPr lang="en-US" altLang="ja-JP" sz="2000" dirty="0"/>
          </a:p>
          <a:p>
            <a:pPr marL="0" indent="0">
              <a:lnSpc>
                <a:spcPct val="210000"/>
              </a:lnSpc>
              <a:buNone/>
            </a:pPr>
            <a:r>
              <a:rPr lang="en-US" altLang="ja-JP" sz="2000" dirty="0"/>
              <a:t>	</a:t>
            </a:r>
            <a:r>
              <a:rPr lang="ja-JP" altLang="en-US" sz="2000" dirty="0"/>
              <a:t>・フロントエンド操作だけでなく、</a:t>
            </a:r>
            <a:r>
              <a:rPr lang="en-US" altLang="ja-JP" sz="2000" dirty="0"/>
              <a:t>PHP</a:t>
            </a:r>
            <a:r>
              <a:rPr lang="ja-JP" altLang="en-US" sz="2000" dirty="0"/>
              <a:t>と</a:t>
            </a:r>
            <a:r>
              <a:rPr lang="en-US" altLang="ja-JP" sz="2000" dirty="0"/>
              <a:t>JavaScript</a:t>
            </a:r>
            <a:r>
              <a:rPr lang="ja-JP" altLang="en-US" sz="2000" dirty="0"/>
              <a:t>での</a:t>
            </a:r>
            <a:r>
              <a:rPr lang="en-US" altLang="ja-JP" sz="2000" dirty="0"/>
              <a:t>API</a:t>
            </a:r>
            <a:r>
              <a:rPr lang="ja-JP" altLang="en-US" sz="2000" dirty="0"/>
              <a:t>実装で、非同期処理を行う　</a:t>
            </a:r>
            <a:endParaRPr lang="en-US" altLang="ja-JP" sz="2000" dirty="0"/>
          </a:p>
          <a:p>
            <a:pPr marL="0" indent="0">
              <a:lnSpc>
                <a:spcPct val="210000"/>
              </a:lnSpc>
              <a:buNone/>
            </a:pPr>
            <a:r>
              <a:rPr lang="ja-JP" altLang="en-US" sz="2000" dirty="0"/>
              <a:t>　</a:t>
            </a:r>
            <a:r>
              <a:rPr lang="en-US" altLang="ja-JP" sz="2300" b="1" dirty="0"/>
              <a:t>2</a:t>
            </a:r>
            <a:r>
              <a:rPr lang="ja-JP" altLang="en-US" sz="2300" b="1" dirty="0"/>
              <a:t>．実際の開発フローやツールを経験</a:t>
            </a:r>
            <a:endParaRPr lang="en-US" altLang="ja-JP" sz="1800" dirty="0"/>
          </a:p>
          <a:p>
            <a:pPr marL="457200" lvl="1" indent="0">
              <a:lnSpc>
                <a:spcPct val="210000"/>
              </a:lnSpc>
              <a:buNone/>
            </a:pPr>
            <a:r>
              <a:rPr lang="en-US" altLang="ja-JP" sz="1800" dirty="0"/>
              <a:t>	</a:t>
            </a:r>
            <a:r>
              <a:rPr lang="ja-JP" altLang="en-US" sz="1800" dirty="0"/>
              <a:t>・要件定義～開発～テストの一連を経験</a:t>
            </a:r>
            <a:endParaRPr lang="en-US" altLang="ja-JP" sz="1800" dirty="0"/>
          </a:p>
          <a:p>
            <a:pPr marL="457200" lvl="1" indent="0">
              <a:lnSpc>
                <a:spcPct val="210000"/>
              </a:lnSpc>
              <a:buNone/>
            </a:pPr>
            <a:r>
              <a:rPr lang="en-US" altLang="ja-JP" sz="1800" dirty="0"/>
              <a:t>	</a:t>
            </a:r>
            <a:r>
              <a:rPr lang="ja-JP" altLang="en-US" sz="1800" dirty="0"/>
              <a:t>・</a:t>
            </a:r>
            <a:r>
              <a:rPr lang="en-US" altLang="ja-JP" sz="1800" dirty="0"/>
              <a:t>Git</a:t>
            </a:r>
            <a:r>
              <a:rPr lang="ja-JP" altLang="en-US" sz="1800" dirty="0"/>
              <a:t>や</a:t>
            </a:r>
            <a:r>
              <a:rPr lang="en-US" altLang="ja-JP" sz="1800" dirty="0"/>
              <a:t>Backlog</a:t>
            </a:r>
            <a:r>
              <a:rPr lang="ja-JP" altLang="en-US" sz="1800" dirty="0"/>
              <a:t>など、実際に使用されるツールを活用した開発</a:t>
            </a:r>
            <a:endParaRPr lang="en-US" altLang="ja-JP" sz="1800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C80A5CB-072F-B973-1F95-4D28EE50E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0383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2C634-9A90-6CB5-64E4-AA0F4D7BE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9215E9-11A8-E116-E268-5F9A48632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前提条件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F7F857-8BE3-D9DF-8B31-4763E5B0A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812" y="1012152"/>
            <a:ext cx="11396869" cy="5487259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使用ツール</a:t>
            </a:r>
            <a:endParaRPr lang="en-US" altLang="ja-JP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今回の開発では、ローカル開発環境を簡単に構築できるソフトウェアパッケージである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XAMPP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を使用</a:t>
            </a:r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XAMPP</a:t>
            </a:r>
          </a:p>
          <a:p>
            <a:pPr marL="0" indent="0">
              <a:lnSpc>
                <a:spcPct val="160000"/>
              </a:lnSpc>
              <a:buNone/>
            </a:pPr>
            <a:r>
              <a:rPr kumimoji="0"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	</a:t>
            </a:r>
            <a:r>
              <a:rPr kumimoji="0"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kumimoji="0" lang="ja-JP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Webアプリケーション開発に必要なApache、PHP</a:t>
            </a:r>
            <a:r>
              <a:rPr kumimoji="0"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kumimoji="0" lang="ja-JP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MySQLが全て一つにまとまって</a:t>
            </a:r>
            <a:r>
              <a:rPr kumimoji="0"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いる</a:t>
            </a:r>
            <a:endParaRPr kumimoji="0"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kumimoji="0"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	</a:t>
            </a:r>
            <a:r>
              <a:rPr kumimoji="0"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kumimoji="0" lang="ja-JP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管理画面から各サーバーの起動・停止を簡単に行えるため、初心者でも扱いやすい</a:t>
            </a:r>
            <a:endParaRPr kumimoji="0"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kumimoji="0"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	</a:t>
            </a:r>
            <a:r>
              <a:rPr kumimoji="0"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・自分の</a:t>
            </a:r>
            <a:r>
              <a:rPr kumimoji="0" lang="ja-JP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PC内で本番に近い環境を再現できるため、効率的に開発とテストを進めることが可能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119FFC2-24E3-4C94-CF5C-DCD8696D1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96690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EBA73-9B80-2873-82C6-E23CF78B4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7BCE9E-2A56-D7F3-B0B4-DB998EFC9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前提条件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5A0607-492F-5311-23ED-7015324DE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642" y="768569"/>
            <a:ext cx="11107793" cy="563488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ja-JP" altLang="en-US" sz="1600" dirty="0"/>
              <a:t>使用言語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ja-JP" altLang="en-US" sz="1600" b="1" dirty="0"/>
              <a:t>１）</a:t>
            </a:r>
            <a:r>
              <a:rPr lang="en-US" altLang="ja-JP" sz="1600" b="1" dirty="0"/>
              <a:t>PHP</a:t>
            </a:r>
            <a:r>
              <a:rPr lang="ja-JP" altLang="en-US" sz="1600" dirty="0"/>
              <a:t>：</a:t>
            </a:r>
            <a:r>
              <a:rPr lang="en-US" altLang="ja-JP" sz="1600" dirty="0"/>
              <a:t>API</a:t>
            </a:r>
            <a:r>
              <a:rPr lang="ja-JP" altLang="en-US" sz="1600" dirty="0"/>
              <a:t>としてのサーバーサイド処理を実装</a:t>
            </a:r>
            <a:endParaRPr lang="en-US" altLang="ja-JP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1600" dirty="0"/>
              <a:t>	</a:t>
            </a:r>
            <a:r>
              <a:rPr lang="ja-JP" altLang="en-US" sz="1600" dirty="0"/>
              <a:t>・入力値の検証（バリデーション）：送信されたデータが正しい形式化をチェック</a:t>
            </a:r>
            <a:endParaRPr lang="en-US" altLang="ja-JP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1600" dirty="0"/>
              <a:t>	</a:t>
            </a:r>
            <a:r>
              <a:rPr lang="ja-JP" altLang="en-US" sz="1600" dirty="0"/>
              <a:t>・データベース処理：</a:t>
            </a:r>
            <a:r>
              <a:rPr lang="en-US" altLang="ja-JP" sz="1600" dirty="0"/>
              <a:t>MySQL</a:t>
            </a:r>
            <a:r>
              <a:rPr lang="ja-JP" altLang="en-US" sz="1600" dirty="0"/>
              <a:t>と連携し、データの取得や保存を行う</a:t>
            </a:r>
            <a:endParaRPr lang="en-US" altLang="ja-JP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1600" dirty="0"/>
              <a:t>	</a:t>
            </a:r>
            <a:r>
              <a:rPr lang="ja-JP" altLang="en-US" sz="1600" dirty="0"/>
              <a:t>・</a:t>
            </a:r>
            <a:r>
              <a:rPr lang="en-US" altLang="ja-JP" sz="1600" dirty="0"/>
              <a:t>JSON</a:t>
            </a:r>
            <a:r>
              <a:rPr lang="ja-JP" altLang="en-US" sz="1600" dirty="0"/>
              <a:t>形式でのデータ返却：処理結果を</a:t>
            </a:r>
            <a:r>
              <a:rPr lang="en-US" altLang="ja-JP" sz="1600" dirty="0"/>
              <a:t>JavaScript</a:t>
            </a:r>
            <a:r>
              <a:rPr lang="ja-JP" altLang="en-US" sz="1600" dirty="0"/>
              <a:t>が受け取りやすい</a:t>
            </a:r>
            <a:r>
              <a:rPr lang="en-US" altLang="ja-JP" sz="1600" dirty="0"/>
              <a:t>JSON</a:t>
            </a:r>
            <a:r>
              <a:rPr lang="ja-JP" altLang="en-US" sz="1600" dirty="0"/>
              <a:t>で返却</a:t>
            </a:r>
            <a:endParaRPr lang="en-US" altLang="ja-JP" sz="1600" dirty="0"/>
          </a:p>
          <a:p>
            <a:pPr marL="0" indent="0">
              <a:lnSpc>
                <a:spcPct val="150000"/>
              </a:lnSpc>
              <a:buNone/>
            </a:pPr>
            <a:r>
              <a:rPr lang="ja-JP" altLang="en-US" sz="1600" b="1" dirty="0"/>
              <a:t>２）</a:t>
            </a:r>
            <a:r>
              <a:rPr lang="en-US" altLang="ja-JP" sz="1600" b="1" dirty="0"/>
              <a:t>JavaScript</a:t>
            </a:r>
            <a:r>
              <a:rPr lang="ja-JP" altLang="en-US" sz="1600" b="1" dirty="0"/>
              <a:t>：動的なフロントエンド処理を実装</a:t>
            </a:r>
            <a:endParaRPr lang="en-US" altLang="ja-JP" sz="16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1600" b="1" dirty="0"/>
              <a:t>	</a:t>
            </a:r>
            <a:r>
              <a:rPr lang="ja-JP" altLang="en-US" sz="1600" b="1" dirty="0"/>
              <a:t>・</a:t>
            </a:r>
            <a:r>
              <a:rPr lang="en-US" altLang="ja-JP" sz="1600" b="1" dirty="0"/>
              <a:t>API</a:t>
            </a:r>
            <a:r>
              <a:rPr lang="ja-JP" altLang="en-US" sz="1600" b="1" dirty="0"/>
              <a:t>の呼び出し：フォームの送信やボタンのクリックから、</a:t>
            </a:r>
            <a:r>
              <a:rPr lang="en-US" altLang="ja-JP" sz="1600" b="1" dirty="0"/>
              <a:t>PHP</a:t>
            </a:r>
            <a:r>
              <a:rPr lang="ja-JP" altLang="en-US" sz="1600" b="1" dirty="0"/>
              <a:t>の</a:t>
            </a:r>
            <a:r>
              <a:rPr lang="en-US" altLang="ja-JP" sz="1600" b="1" dirty="0"/>
              <a:t>API</a:t>
            </a:r>
            <a:r>
              <a:rPr lang="ja-JP" altLang="en-US" sz="1600" b="1" dirty="0"/>
              <a:t>へのリクエストを送信</a:t>
            </a:r>
            <a:endParaRPr lang="en-US" altLang="ja-JP" sz="16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1600" b="1" dirty="0"/>
              <a:t>	</a:t>
            </a:r>
            <a:r>
              <a:rPr lang="ja-JP" altLang="en-US" sz="1600" b="1" dirty="0"/>
              <a:t>・画面の動的更新：サーバから受け取った</a:t>
            </a:r>
            <a:r>
              <a:rPr lang="en-US" altLang="ja-JP" sz="1600" b="1" dirty="0"/>
              <a:t>JSON</a:t>
            </a:r>
            <a:r>
              <a:rPr lang="ja-JP" altLang="en-US" sz="1600" b="1" dirty="0"/>
              <a:t>データをもとに、ページ全体を読み込みなしに</a:t>
            </a:r>
            <a:r>
              <a:rPr lang="en-US" altLang="ja-JP" sz="1600" b="1" dirty="0"/>
              <a:t>HTML</a:t>
            </a:r>
            <a:r>
              <a:rPr lang="ja-JP" altLang="en-US" sz="1600" b="1" dirty="0"/>
              <a:t>を表示</a:t>
            </a:r>
            <a:endParaRPr lang="en-US" altLang="ja-JP" sz="16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1600" b="1" dirty="0"/>
              <a:t>	</a:t>
            </a:r>
            <a:r>
              <a:rPr lang="ja-JP" altLang="en-US" sz="1600" b="1" dirty="0"/>
              <a:t>・ユーザ捜査への応答：ソートやページングの操作に応じて必要なデータを</a:t>
            </a:r>
            <a:r>
              <a:rPr lang="en-US" altLang="ja-JP" sz="1600" b="1" dirty="0"/>
              <a:t>API</a:t>
            </a:r>
            <a:r>
              <a:rPr lang="ja-JP" altLang="en-US" sz="1600" b="1" dirty="0"/>
              <a:t>から追加で取得、画面に反映</a:t>
            </a:r>
            <a:endParaRPr lang="en-US" altLang="ja-JP" sz="1600" b="1" dirty="0"/>
          </a:p>
          <a:p>
            <a:pPr marL="0" indent="0">
              <a:lnSpc>
                <a:spcPct val="150000"/>
              </a:lnSpc>
              <a:buNone/>
            </a:pPr>
            <a:r>
              <a:rPr lang="ja-JP" altLang="en-US" sz="1600" b="1" dirty="0"/>
              <a:t>３）</a:t>
            </a:r>
            <a:r>
              <a:rPr lang="en-US" altLang="ja-JP" sz="1600" b="1" dirty="0"/>
              <a:t>MySQL</a:t>
            </a:r>
            <a:r>
              <a:rPr lang="ja-JP" altLang="en-US" sz="1600" dirty="0"/>
              <a:t>：データ構造の理解</a:t>
            </a:r>
            <a:endParaRPr lang="en-US" altLang="ja-JP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1600" dirty="0"/>
              <a:t>	</a:t>
            </a:r>
            <a:r>
              <a:rPr lang="ja-JP" altLang="en-US" sz="1600" dirty="0"/>
              <a:t>・投稿データ、ユーザの保存・検索</a:t>
            </a:r>
            <a:endParaRPr lang="en-US" altLang="ja-JP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1600" dirty="0"/>
              <a:t>	</a:t>
            </a:r>
            <a:r>
              <a:rPr lang="ja-JP" altLang="en-US" sz="1600" dirty="0"/>
              <a:t>・ページングやソートのためのデータ取得</a:t>
            </a:r>
            <a:endParaRPr lang="en-US" altLang="ja-JP" sz="1600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9BF8654-468B-B0D8-08A9-58D87F699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93607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53F3A-B9A4-6D09-4162-6A9F4C557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30A7DF-AB4E-891E-A7A2-589FF6293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機能概要・遷移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00BA028-2BAD-73C8-1C35-E5B51CADA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7</a:t>
            </a:fld>
            <a:endParaRPr lang="ja-JP" altLang="en-US"/>
          </a:p>
        </p:txBody>
      </p:sp>
      <p:pic>
        <p:nvPicPr>
          <p:cNvPr id="12" name="図 11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D770B9F1-86B2-A634-073F-02662EE49B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17"/>
          <a:stretch>
            <a:fillRect/>
          </a:stretch>
        </p:blipFill>
        <p:spPr>
          <a:xfrm>
            <a:off x="994084" y="973078"/>
            <a:ext cx="10203832" cy="552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044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D684B-FD75-DF2F-C980-E3DD55827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CB026D-A5EB-1BC3-F294-0A5B62AF4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開発範囲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05E4DD0-09D9-908C-3BB3-D43C6A38C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66" y="846230"/>
            <a:ext cx="11623192" cy="1877427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ja-JP" altLang="en-US" sz="2000" dirty="0"/>
              <a:t>対象とする範囲</a:t>
            </a:r>
            <a:endParaRPr lang="en-US" altLang="ja-JP" sz="2000" dirty="0"/>
          </a:p>
          <a:p>
            <a:pPr marL="0" indent="0">
              <a:lnSpc>
                <a:spcPct val="160000"/>
              </a:lnSpc>
              <a:buNone/>
            </a:pPr>
            <a:r>
              <a:rPr lang="ja-JP" altLang="en-US" sz="2000" dirty="0"/>
              <a:t>　　・</a:t>
            </a:r>
            <a:r>
              <a:rPr lang="en-US" altLang="ja-JP" sz="2000" dirty="0"/>
              <a:t>PHP, MySQL, JavaScript</a:t>
            </a:r>
            <a:r>
              <a:rPr lang="ja-JP" altLang="en-US" sz="2000" dirty="0"/>
              <a:t>による業務利用想定チャットアプリを開発</a:t>
            </a:r>
            <a:endParaRPr lang="en-US" altLang="ja-JP" sz="2000" dirty="0"/>
          </a:p>
          <a:p>
            <a:pPr marL="0" indent="0">
              <a:lnSpc>
                <a:spcPct val="160000"/>
              </a:lnSpc>
              <a:buNone/>
            </a:pPr>
            <a:r>
              <a:rPr lang="ja-JP" altLang="en-US" sz="2000" dirty="0"/>
              <a:t>　　・サーバーサイドレンダリング（</a:t>
            </a:r>
            <a:r>
              <a:rPr lang="en-US" altLang="ja-JP" sz="2000" dirty="0"/>
              <a:t>SSR</a:t>
            </a:r>
            <a:r>
              <a:rPr lang="ja-JP" altLang="en-US" sz="2000" dirty="0"/>
              <a:t>）を基本とし、一部機能で</a:t>
            </a:r>
            <a:r>
              <a:rPr lang="en-US" altLang="ja-JP" sz="2000" dirty="0"/>
              <a:t>JavaScript</a:t>
            </a:r>
            <a:r>
              <a:rPr lang="ja-JP" altLang="en-US" sz="2000" dirty="0"/>
              <a:t>による</a:t>
            </a:r>
            <a:r>
              <a:rPr lang="en-US" altLang="ja-JP" sz="2000" dirty="0"/>
              <a:t>AIP</a:t>
            </a:r>
            <a:r>
              <a:rPr lang="ja-JP" altLang="en-US" sz="2000" dirty="0"/>
              <a:t>通信（非同期更新）を導入</a:t>
            </a:r>
            <a:endParaRPr lang="en-US" altLang="ja-JP" sz="2000" dirty="0"/>
          </a:p>
          <a:p>
            <a:pPr marL="0" indent="0">
              <a:lnSpc>
                <a:spcPct val="160000"/>
              </a:lnSpc>
              <a:buNone/>
            </a:pPr>
            <a:r>
              <a:rPr lang="ja-JP" altLang="en-US" sz="2000" dirty="0"/>
              <a:t>　を実装対象とする</a:t>
            </a:r>
            <a:endParaRPr lang="en-US" altLang="ja-JP" sz="2000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EC7979E-D23F-8125-4766-D2B990B72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8</a:t>
            </a:fld>
            <a:endParaRPr lang="ja-JP" altLang="en-US"/>
          </a:p>
        </p:txBody>
      </p:sp>
      <p:sp>
        <p:nvSpPr>
          <p:cNvPr id="4" name="AutoShape 2" descr="Uploaded image">
            <a:extLst>
              <a:ext uri="{FF2B5EF4-FFF2-40B4-BE49-F238E27FC236}">
                <a16:creationId xmlns:a16="http://schemas.microsoft.com/office/drawing/2014/main" id="{15D221A4-2779-F8A4-1285-A09F3A9CE1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487BDF1-16D3-393A-AA69-4E71B2587CBC}"/>
              </a:ext>
            </a:extLst>
          </p:cNvPr>
          <p:cNvSpPr txBox="1"/>
          <p:nvPr/>
        </p:nvSpPr>
        <p:spPr>
          <a:xfrm>
            <a:off x="7100047" y="5809504"/>
            <a:ext cx="415104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100" dirty="0" err="1"/>
              <a:t>Qiita</a:t>
            </a:r>
            <a:r>
              <a:rPr lang="en-US" altLang="ja-JP" sz="1100" dirty="0"/>
              <a:t> </a:t>
            </a:r>
            <a:r>
              <a:rPr lang="ja-JP" altLang="en-US" sz="1100" dirty="0"/>
              <a:t>「</a:t>
            </a:r>
            <a:r>
              <a:rPr lang="en-US" altLang="ja-JP" sz="1100" dirty="0"/>
              <a:t>【</a:t>
            </a:r>
            <a:r>
              <a:rPr lang="ja-JP" altLang="en-US" sz="1100" dirty="0"/>
              <a:t>図解</a:t>
            </a:r>
            <a:r>
              <a:rPr lang="en-US" altLang="ja-JP" sz="1100" dirty="0"/>
              <a:t>】SPA,SSR,SSG</a:t>
            </a:r>
            <a:r>
              <a:rPr lang="ja-JP" altLang="en-US" sz="1100" dirty="0"/>
              <a:t>について」　</a:t>
            </a:r>
            <a:r>
              <a:rPr lang="ja-JP" altLang="en-US" sz="1100" dirty="0">
                <a:hlinkClick r:id="rId3"/>
              </a:rPr>
              <a:t>https://qiita.com/manabito76/items/fe91eefe11a74dcf5126</a:t>
            </a:r>
            <a:r>
              <a:rPr lang="ja-JP" altLang="en-US" sz="1100" dirty="0"/>
              <a:t>　</a:t>
            </a: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6B121D59-13D5-B33E-DC65-1A786532EB56}"/>
              </a:ext>
            </a:extLst>
          </p:cNvPr>
          <p:cNvSpPr txBox="1">
            <a:spLocks/>
          </p:cNvSpPr>
          <p:nvPr/>
        </p:nvSpPr>
        <p:spPr>
          <a:xfrm>
            <a:off x="334812" y="5790377"/>
            <a:ext cx="6146670" cy="107568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ja-JP" sz="1100" dirty="0"/>
              <a:t>※SSR</a:t>
            </a:r>
            <a:r>
              <a:rPr lang="ja-JP" altLang="en-US" sz="1100" dirty="0"/>
              <a:t>：サーバーで完成したページを作って渡す仕組み（</a:t>
            </a:r>
            <a:r>
              <a:rPr lang="en-US" altLang="ja-JP" sz="1100" dirty="0"/>
              <a:t>EC</a:t>
            </a:r>
            <a:r>
              <a:rPr lang="ja-JP" altLang="en-US" sz="1100" dirty="0"/>
              <a:t>サイト、ニュースサイト等）</a:t>
            </a:r>
            <a:endParaRPr lang="en-US" altLang="ja-JP" sz="1100" dirty="0"/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ja-JP" altLang="en-US" sz="1100" dirty="0"/>
              <a:t>ユーザがページを開く→ホスティングサーバーが</a:t>
            </a:r>
            <a:r>
              <a:rPr lang="en-US" altLang="ja-JP" sz="1100" dirty="0"/>
              <a:t>API</a:t>
            </a:r>
            <a:r>
              <a:rPr lang="ja-JP" altLang="en-US" sz="1100" dirty="0"/>
              <a:t>サーバーから受け取ったデータをもとに</a:t>
            </a:r>
            <a:r>
              <a:rPr lang="en-US" altLang="ja-JP" sz="1100" dirty="0"/>
              <a:t>HTML</a:t>
            </a:r>
            <a:r>
              <a:rPr lang="ja-JP" altLang="en-US" sz="1100" dirty="0"/>
              <a:t>をレンダリング→ユーザのブラウザに表示</a:t>
            </a:r>
            <a:endParaRPr lang="en-US" altLang="ja-JP" sz="1100" dirty="0"/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ja-JP" sz="1100" dirty="0"/>
              <a:t>※slack</a:t>
            </a:r>
            <a:r>
              <a:rPr lang="ja-JP" altLang="en-US" sz="1100" dirty="0"/>
              <a:t>や</a:t>
            </a:r>
            <a:r>
              <a:rPr lang="en-US" altLang="ja-JP" sz="1100" dirty="0"/>
              <a:t>Teams</a:t>
            </a:r>
            <a:r>
              <a:rPr lang="ja-JP" altLang="en-US" sz="1100" dirty="0"/>
              <a:t>の</a:t>
            </a:r>
            <a:r>
              <a:rPr lang="en-US" altLang="ja-JP" sz="1100" dirty="0"/>
              <a:t>web</a:t>
            </a:r>
            <a:r>
              <a:rPr lang="ja-JP" altLang="en-US" sz="1100" dirty="0"/>
              <a:t>版は</a:t>
            </a:r>
            <a:r>
              <a:rPr lang="en-US" altLang="ja-JP" sz="1100" dirty="0"/>
              <a:t>SPA(</a:t>
            </a:r>
            <a:r>
              <a:rPr lang="ja-JP" altLang="en-US" sz="1100" dirty="0"/>
              <a:t>画面遷移なしで必要なデータだけ</a:t>
            </a:r>
            <a:r>
              <a:rPr lang="en-US" altLang="ja-JP" sz="1100" dirty="0"/>
              <a:t>API</a:t>
            </a:r>
            <a:r>
              <a:rPr lang="ja-JP" altLang="en-US" sz="1100" dirty="0"/>
              <a:t>で取得</a:t>
            </a:r>
            <a:r>
              <a:rPr lang="en-US" altLang="ja-JP" sz="1100" dirty="0"/>
              <a:t>)</a:t>
            </a: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632A993C-2CF4-80EC-0D1F-C6FEAD29A3B3}"/>
              </a:ext>
            </a:extLst>
          </p:cNvPr>
          <p:cNvSpPr txBox="1">
            <a:spLocks/>
          </p:cNvSpPr>
          <p:nvPr/>
        </p:nvSpPr>
        <p:spPr>
          <a:xfrm>
            <a:off x="623888" y="2984055"/>
            <a:ext cx="2339938" cy="258277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ja-JP" altLang="en-US" sz="2000" b="1" dirty="0"/>
              <a:t>実装対象機能</a:t>
            </a:r>
            <a:endParaRPr lang="en-US" altLang="ja-JP" sz="2000" b="1" dirty="0"/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ja-JP" altLang="en-US" sz="2000" dirty="0"/>
              <a:t>・認証機能</a:t>
            </a:r>
            <a:endParaRPr lang="en-US" altLang="ja-JP" sz="2000" dirty="0"/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ja-JP" altLang="en-US" sz="2000" dirty="0"/>
              <a:t>・ユーザプロフィール</a:t>
            </a:r>
            <a:endParaRPr lang="en-US" altLang="ja-JP" sz="2000" dirty="0"/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ja-JP" altLang="en-US" sz="2000" dirty="0"/>
              <a:t>・表示制御</a:t>
            </a:r>
            <a:endParaRPr lang="en-US" altLang="ja-JP" sz="2000" dirty="0"/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ja-JP" altLang="en-US" sz="2000" dirty="0"/>
              <a:t>・セキュリティ</a:t>
            </a:r>
            <a:endParaRPr lang="en-US" altLang="ja-JP" sz="2000" dirty="0"/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ja-JP" altLang="en-US" sz="2000" dirty="0"/>
              <a:t>・フロント機能</a:t>
            </a:r>
            <a:endParaRPr lang="en-US" altLang="ja-JP" sz="2000" dirty="0"/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6E0CA643-DD03-3752-D4C5-47666686CD96}"/>
              </a:ext>
            </a:extLst>
          </p:cNvPr>
          <p:cNvSpPr txBox="1">
            <a:spLocks/>
          </p:cNvSpPr>
          <p:nvPr/>
        </p:nvSpPr>
        <p:spPr>
          <a:xfrm>
            <a:off x="3420193" y="2964721"/>
            <a:ext cx="2339938" cy="258277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ja-JP" altLang="en-US" sz="2000" b="1" dirty="0"/>
              <a:t>実装対象外機能</a:t>
            </a:r>
            <a:endParaRPr lang="en-US" altLang="ja-JP" sz="2000" b="1" dirty="0"/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ja-JP" altLang="en-US" sz="2000" dirty="0"/>
              <a:t>・ファイル送受信</a:t>
            </a:r>
            <a:endParaRPr lang="en-US" altLang="ja-JP" sz="2000" dirty="0"/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ja-JP" altLang="en-US" sz="2000" dirty="0"/>
              <a:t>・通知機能</a:t>
            </a:r>
            <a:endParaRPr lang="en-US" altLang="ja-JP" sz="2000" dirty="0"/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ja-JP" altLang="en-US" sz="2000" dirty="0"/>
              <a:t>・チャンネル機能</a:t>
            </a:r>
            <a:endParaRPr lang="en-US" altLang="ja-JP" sz="2000" dirty="0"/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ja-JP" altLang="en-US" sz="2000" dirty="0"/>
              <a:t>・外部</a:t>
            </a:r>
            <a:r>
              <a:rPr lang="en-US" altLang="ja-JP" sz="2000" dirty="0"/>
              <a:t>API</a:t>
            </a:r>
            <a:r>
              <a:rPr lang="ja-JP" altLang="en-US" sz="2000" dirty="0"/>
              <a:t>連携</a:t>
            </a:r>
            <a:endParaRPr lang="en-US" altLang="ja-JP" sz="2000" dirty="0"/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ja-JP" altLang="en-US" sz="2000" dirty="0"/>
              <a:t>・リアルタイム通信</a:t>
            </a:r>
            <a:endParaRPr lang="en-US" altLang="ja-JP" sz="2000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1A788422-367F-DE4F-C81A-BEFD9C26B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6994" y="2984055"/>
            <a:ext cx="6288318" cy="282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76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BF5BB-423A-6906-903C-E929EA103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DC8556-E5CD-7D2C-2229-53BDC41F1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利用者・利用シーン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8D63F8-A664-4BE4-90F7-A21DBB20B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812" y="1012153"/>
            <a:ext cx="11396869" cy="4097730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ja-JP" altLang="en-US" sz="2000" dirty="0"/>
              <a:t>１）利用者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altLang="ja-JP" sz="2000" dirty="0"/>
              <a:t>	</a:t>
            </a:r>
            <a:r>
              <a:rPr lang="ja-JP" altLang="en-US" sz="2000" dirty="0"/>
              <a:t>・社内メンバー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ja-JP" altLang="en-US" sz="2000" dirty="0"/>
              <a:t>２）利用シーン</a:t>
            </a:r>
            <a:endParaRPr lang="en-US" altLang="ja-JP" sz="2000" dirty="0"/>
          </a:p>
          <a:p>
            <a:pPr marL="457200" lvl="1" indent="0">
              <a:lnSpc>
                <a:spcPct val="160000"/>
              </a:lnSpc>
              <a:buNone/>
            </a:pPr>
            <a:r>
              <a:rPr lang="en-US" altLang="ja-JP" sz="1800" dirty="0"/>
              <a:t>	</a:t>
            </a:r>
            <a:r>
              <a:rPr lang="ja-JP" altLang="en-US" sz="1800" dirty="0"/>
              <a:t>・新規投稿として親メッセージを投稿する</a:t>
            </a:r>
            <a:endParaRPr lang="en-US" altLang="ja-JP" sz="1800" dirty="0"/>
          </a:p>
          <a:p>
            <a:pPr marL="457200" lvl="1" indent="0">
              <a:lnSpc>
                <a:spcPct val="160000"/>
              </a:lnSpc>
              <a:buNone/>
            </a:pPr>
            <a:r>
              <a:rPr lang="en-US" altLang="ja-JP" sz="1800" dirty="0"/>
              <a:t>	</a:t>
            </a:r>
            <a:r>
              <a:rPr lang="ja-JP" altLang="en-US" sz="1800" dirty="0"/>
              <a:t>・親メッセージに対して返信を投稿し、議論をスレッドとして整理・参照する</a:t>
            </a:r>
            <a:endParaRPr lang="en-US" altLang="ja-JP" sz="1800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689DE9-AE8C-EC28-4E1F-A710A3253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15469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89FD0E-D345-859D-7265-32B3A5260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機能</a:t>
            </a:r>
            <a:r>
              <a:rPr lang="ja-JP" altLang="en-US" dirty="0"/>
              <a:t>要件１</a:t>
            </a:r>
            <a:r>
              <a:rPr kumimoji="1" lang="ja-JP" altLang="en-US" dirty="0"/>
              <a:t>（概要）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A57BEB4-A314-1AA7-1DCA-47BCB5DD9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10</a:t>
            </a:fld>
            <a:endParaRPr lang="ja-JP" altLang="en-US"/>
          </a:p>
        </p:txBody>
      </p:sp>
      <p:graphicFrame>
        <p:nvGraphicFramePr>
          <p:cNvPr id="22" name="表 21">
            <a:extLst>
              <a:ext uri="{FF2B5EF4-FFF2-40B4-BE49-F238E27FC236}">
                <a16:creationId xmlns:a16="http://schemas.microsoft.com/office/drawing/2014/main" id="{C3D3F087-C9C9-136D-51CF-277F45245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617639"/>
              </p:ext>
            </p:extLst>
          </p:nvPr>
        </p:nvGraphicFramePr>
        <p:xfrm>
          <a:off x="397564" y="919171"/>
          <a:ext cx="11396869" cy="5331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9392">
                  <a:extLst>
                    <a:ext uri="{9D8B030D-6E8A-4147-A177-3AD203B41FA5}">
                      <a16:colId xmlns:a16="http://schemas.microsoft.com/office/drawing/2014/main" val="3874728619"/>
                    </a:ext>
                  </a:extLst>
                </a:gridCol>
                <a:gridCol w="8767477">
                  <a:extLst>
                    <a:ext uri="{9D8B030D-6E8A-4147-A177-3AD203B41FA5}">
                      <a16:colId xmlns:a16="http://schemas.microsoft.com/office/drawing/2014/main" val="2040167355"/>
                    </a:ext>
                  </a:extLst>
                </a:gridCol>
              </a:tblGrid>
              <a:tr h="63085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対応業務要件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機能概要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118364"/>
                  </a:ext>
                </a:extLst>
              </a:tr>
              <a:tr h="1088869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0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ユーザ認証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0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ユーザの新規登録、ログイン、ログアウトなどで、利用者が本人であることを確認。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865337"/>
                  </a:ext>
                </a:extLst>
              </a:tr>
              <a:tr h="630852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0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スレッド投稿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0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新しい話題を作成し、投稿するための機能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454226"/>
                  </a:ext>
                </a:extLst>
              </a:tr>
              <a:tr h="1088869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0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スレッド返信閲覧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0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投稿されたスレッドや、それに対しての返信を一覧または詳細形式で閲覧するための機能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593483"/>
                  </a:ext>
                </a:extLst>
              </a:tr>
              <a:tr h="630852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0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返信投稿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0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既存の投稿に対してコメントを投稿するための機能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491626"/>
                  </a:ext>
                </a:extLst>
              </a:tr>
              <a:tr h="630852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0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投稿編集・削除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0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自分が過去に投稿した内容を、後から修正したり削除するための機能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01185"/>
                  </a:ext>
                </a:extLst>
              </a:tr>
              <a:tr h="630852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0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その他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0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上記以外の利便性を向上させるための補助的な機能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29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3279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4AD31-BF03-EB6A-3268-D0447C10D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99D90E-9B0D-C394-11D5-18F700186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機能</a:t>
            </a:r>
            <a:r>
              <a:rPr lang="ja-JP" altLang="en-US" dirty="0"/>
              <a:t>要件２</a:t>
            </a:r>
            <a:r>
              <a:rPr kumimoji="1" lang="ja-JP" altLang="en-US" dirty="0"/>
              <a:t>（</a:t>
            </a:r>
            <a:r>
              <a:rPr lang="ja-JP" altLang="en-US" dirty="0"/>
              <a:t>認証・投稿・閲覧</a:t>
            </a:r>
            <a:r>
              <a:rPr kumimoji="1" lang="ja-JP" altLang="en-US" dirty="0"/>
              <a:t>）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8BC293D-78EF-3376-F45E-FF0C585FB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11</a:t>
            </a:fld>
            <a:endParaRPr lang="ja-JP" altLang="en-US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807C0245-4B5E-0141-DD05-D7841E673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415214"/>
              </p:ext>
            </p:extLst>
          </p:nvPr>
        </p:nvGraphicFramePr>
        <p:xfrm>
          <a:off x="397565" y="885918"/>
          <a:ext cx="11396869" cy="5365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097">
                  <a:extLst>
                    <a:ext uri="{9D8B030D-6E8A-4147-A177-3AD203B41FA5}">
                      <a16:colId xmlns:a16="http://schemas.microsoft.com/office/drawing/2014/main" val="502313918"/>
                    </a:ext>
                  </a:extLst>
                </a:gridCol>
                <a:gridCol w="1618710">
                  <a:extLst>
                    <a:ext uri="{9D8B030D-6E8A-4147-A177-3AD203B41FA5}">
                      <a16:colId xmlns:a16="http://schemas.microsoft.com/office/drawing/2014/main" val="3286923672"/>
                    </a:ext>
                  </a:extLst>
                </a:gridCol>
                <a:gridCol w="3186046">
                  <a:extLst>
                    <a:ext uri="{9D8B030D-6E8A-4147-A177-3AD203B41FA5}">
                      <a16:colId xmlns:a16="http://schemas.microsoft.com/office/drawing/2014/main" val="3509458829"/>
                    </a:ext>
                  </a:extLst>
                </a:gridCol>
                <a:gridCol w="1213658">
                  <a:extLst>
                    <a:ext uri="{9D8B030D-6E8A-4147-A177-3AD203B41FA5}">
                      <a16:colId xmlns:a16="http://schemas.microsoft.com/office/drawing/2014/main" val="622988217"/>
                    </a:ext>
                  </a:extLst>
                </a:gridCol>
                <a:gridCol w="1339189">
                  <a:extLst>
                    <a:ext uri="{9D8B030D-6E8A-4147-A177-3AD203B41FA5}">
                      <a16:colId xmlns:a16="http://schemas.microsoft.com/office/drawing/2014/main" val="3669119935"/>
                    </a:ext>
                  </a:extLst>
                </a:gridCol>
                <a:gridCol w="1609463">
                  <a:extLst>
                    <a:ext uri="{9D8B030D-6E8A-4147-A177-3AD203B41FA5}">
                      <a16:colId xmlns:a16="http://schemas.microsoft.com/office/drawing/2014/main" val="951619011"/>
                    </a:ext>
                  </a:extLst>
                </a:gridCol>
                <a:gridCol w="1480706">
                  <a:extLst>
                    <a:ext uri="{9D8B030D-6E8A-4147-A177-3AD203B41FA5}">
                      <a16:colId xmlns:a16="http://schemas.microsoft.com/office/drawing/2014/main" val="1069468622"/>
                    </a:ext>
                  </a:extLst>
                </a:gridCol>
              </a:tblGrid>
              <a:tr h="49094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管理番号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説明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分類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対応業務要件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開発言語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ファイル名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028219"/>
                  </a:ext>
                </a:extLst>
              </a:tr>
              <a:tr h="588855"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FR-A-01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新規ユーザ登録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ユーザ名とパスワードをシステムに登録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バック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ユーザ認証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PHP</a:t>
                      </a:r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、</a:t>
                      </a:r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MySQL</a:t>
                      </a:r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register.php</a:t>
                      </a:r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066241"/>
                  </a:ext>
                </a:extLst>
              </a:tr>
              <a:tr h="588855"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FR-A-02</a:t>
                      </a:r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ログイン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登録済の</a:t>
                      </a:r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ID</a:t>
                      </a:r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とパスワードで本人確認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バック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ユーザ認証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PHP</a:t>
                      </a:r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、</a:t>
                      </a:r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MySQL</a:t>
                      </a:r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login.php</a:t>
                      </a:r>
                      <a:endParaRPr kumimoji="1" lang="en-US" altLang="ja-JP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en-US" altLang="ja-JP" sz="1400" b="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auth.php</a:t>
                      </a:r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576680"/>
                  </a:ext>
                </a:extLst>
              </a:tr>
              <a:tr h="752324"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FR-M-01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スレッド作成フォーム表示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新規スレッドのタイトルや本文を入力する画面を表示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UI</a:t>
                      </a:r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スレッド投稿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PHP</a:t>
                      </a:r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、</a:t>
                      </a:r>
                      <a:r>
                        <a:rPr kumimoji="1" lang="en-US" altLang="ja-JP" sz="1400" b="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JavaScriput</a:t>
                      </a:r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new_thread.php</a:t>
                      </a:r>
                      <a:endParaRPr kumimoji="1" lang="en-US" altLang="ja-JP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650858"/>
                  </a:ext>
                </a:extLst>
              </a:tr>
              <a:tr h="588855"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FR-M-02</a:t>
                      </a:r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スレッド作成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入力された内容をサーバに送信し新しいスレッドとしてデータベースに保存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バック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スレッド投稿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PHP</a:t>
                      </a:r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、</a:t>
                      </a:r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MySQL</a:t>
                      </a:r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api.php</a:t>
                      </a:r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90564"/>
                  </a:ext>
                </a:extLst>
              </a:tr>
              <a:tr h="588855"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FR-M-03</a:t>
                      </a:r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スレッド一覧表示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投稿されたすべてのスレッドを一覧で表示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UI,</a:t>
                      </a:r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フロント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スレッド返信・閲覧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PHP</a:t>
                      </a:r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、</a:t>
                      </a:r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JavaScript</a:t>
                      </a:r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thread_list.php</a:t>
                      </a:r>
                      <a:endParaRPr kumimoji="1" lang="en-US" altLang="ja-JP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777907"/>
                  </a:ext>
                </a:extLst>
              </a:tr>
              <a:tr h="588855"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FR-M-04</a:t>
                      </a:r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スレッド詳細表示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特定のスレッドの親投稿とそれに対するすべての返信を表示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UI,</a:t>
                      </a:r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フロント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スレッド返信閲覧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PHP</a:t>
                      </a:r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、</a:t>
                      </a:r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JavaScript</a:t>
                      </a:r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thread.php</a:t>
                      </a:r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725084"/>
                  </a:ext>
                </a:extLst>
              </a:tr>
              <a:tr h="588855"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FR-R-01</a:t>
                      </a:r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返信フォーム表示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スレッド詳細画面に返信をするためのフォームを表示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UI</a:t>
                      </a:r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返信投稿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PHP</a:t>
                      </a:r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、</a:t>
                      </a:r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JavaScript</a:t>
                      </a:r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thread.php</a:t>
                      </a:r>
                      <a:endParaRPr kumimoji="1" lang="en-US" altLang="ja-JP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402846"/>
                  </a:ext>
                </a:extLst>
              </a:tr>
              <a:tr h="588855"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FR-R-02</a:t>
                      </a:r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返信投稿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入力された返信内容をサーバに送信し、データベースに保存する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フロント、バック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返信投稿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JavaScript</a:t>
                      </a:r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、</a:t>
                      </a:r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PHP</a:t>
                      </a:r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thread.php</a:t>
                      </a:r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,</a:t>
                      </a:r>
                    </a:p>
                    <a:p>
                      <a:r>
                        <a:rPr kumimoji="1" lang="en-US" altLang="ja-JP" sz="1400" b="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api.php</a:t>
                      </a:r>
                      <a:endParaRPr kumimoji="1" lang="en-US" altLang="ja-JP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402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960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085A9-681B-2219-BF3B-7D2E3D220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C26FEA-B061-761D-81C1-A4941D48F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機能</a:t>
            </a:r>
            <a:r>
              <a:rPr lang="ja-JP" altLang="en-US" dirty="0"/>
              <a:t>要件３</a:t>
            </a:r>
            <a:r>
              <a:rPr kumimoji="1" lang="ja-JP" altLang="en-US" dirty="0"/>
              <a:t>（編集・削除・その他）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2322DF3-5F1D-89E4-E182-D6991A6AD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12</a:t>
            </a:fld>
            <a:endParaRPr lang="ja-JP" altLang="en-US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BD0FB2DE-EB8A-4681-3058-6420FE981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005519"/>
              </p:ext>
            </p:extLst>
          </p:nvPr>
        </p:nvGraphicFramePr>
        <p:xfrm>
          <a:off x="397565" y="885917"/>
          <a:ext cx="11396869" cy="53153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067">
                  <a:extLst>
                    <a:ext uri="{9D8B030D-6E8A-4147-A177-3AD203B41FA5}">
                      <a16:colId xmlns:a16="http://schemas.microsoft.com/office/drawing/2014/main" val="502313918"/>
                    </a:ext>
                  </a:extLst>
                </a:gridCol>
                <a:gridCol w="1553740">
                  <a:extLst>
                    <a:ext uri="{9D8B030D-6E8A-4147-A177-3AD203B41FA5}">
                      <a16:colId xmlns:a16="http://schemas.microsoft.com/office/drawing/2014/main" val="3286923672"/>
                    </a:ext>
                  </a:extLst>
                </a:gridCol>
                <a:gridCol w="3152795">
                  <a:extLst>
                    <a:ext uri="{9D8B030D-6E8A-4147-A177-3AD203B41FA5}">
                      <a16:colId xmlns:a16="http://schemas.microsoft.com/office/drawing/2014/main" val="3509458829"/>
                    </a:ext>
                  </a:extLst>
                </a:gridCol>
                <a:gridCol w="1264014">
                  <a:extLst>
                    <a:ext uri="{9D8B030D-6E8A-4147-A177-3AD203B41FA5}">
                      <a16:colId xmlns:a16="http://schemas.microsoft.com/office/drawing/2014/main" val="622988217"/>
                    </a:ext>
                  </a:extLst>
                </a:gridCol>
                <a:gridCol w="1322084">
                  <a:extLst>
                    <a:ext uri="{9D8B030D-6E8A-4147-A177-3AD203B41FA5}">
                      <a16:colId xmlns:a16="http://schemas.microsoft.com/office/drawing/2014/main" val="3669119935"/>
                    </a:ext>
                  </a:extLst>
                </a:gridCol>
                <a:gridCol w="1609463">
                  <a:extLst>
                    <a:ext uri="{9D8B030D-6E8A-4147-A177-3AD203B41FA5}">
                      <a16:colId xmlns:a16="http://schemas.microsoft.com/office/drawing/2014/main" val="951619011"/>
                    </a:ext>
                  </a:extLst>
                </a:gridCol>
                <a:gridCol w="1480706">
                  <a:extLst>
                    <a:ext uri="{9D8B030D-6E8A-4147-A177-3AD203B41FA5}">
                      <a16:colId xmlns:a16="http://schemas.microsoft.com/office/drawing/2014/main" val="1069468622"/>
                    </a:ext>
                  </a:extLst>
                </a:gridCol>
              </a:tblGrid>
              <a:tr h="599759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管理番号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説明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分類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対応業務要件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開発言語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ファイル名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028219"/>
                  </a:ext>
                </a:extLst>
              </a:tr>
              <a:tr h="719370"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FR-E-01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投稿編集画面表示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既存の投稿内容を編集するためのフォーム画面を表示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UI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投稿編集・削除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PHP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、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JavaScript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edit_post.php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066241"/>
                  </a:ext>
                </a:extLst>
              </a:tr>
              <a:tr h="719370"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FR-E-02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投稿更新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編集された内容で、データベースの情報を更新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バック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投稿編集・削除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PHP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、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MySQL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api.php</a:t>
                      </a:r>
                      <a:endParaRPr kumimoji="1" lang="en-US" altLang="ja-JP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576680"/>
                  </a:ext>
                </a:extLst>
              </a:tr>
              <a:tr h="919069"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FR-E-03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投稿削除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自分の投稿をデータベースから削除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バック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投稿編集・削除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PHP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、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MySQL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qpi.php</a:t>
                      </a:r>
                      <a:endParaRPr kumimoji="1" lang="en-US" altLang="ja-JP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650858"/>
                  </a:ext>
                </a:extLst>
              </a:tr>
              <a:tr h="919069"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FR-O-01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ページング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一覧の表示件数が多い場合に、複数ページに分割して表示する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フロント、バック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その他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PHP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、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MySQL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thread._</a:t>
                      </a:r>
                      <a:r>
                        <a:rPr kumimoji="1" lang="en-US" altLang="ja-JP" sz="14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list.php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, </a:t>
                      </a:r>
                      <a:r>
                        <a:rPr kumimoji="1" lang="en-US" altLang="ja-JP" sz="14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api.php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90564"/>
                  </a:ext>
                </a:extLst>
              </a:tr>
              <a:tr h="719370"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FR-O-02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ソート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一覧を「新着順」「更新順」などの順番で並び替える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フロント、バック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その他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JavaScript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、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PHP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thread_list.php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, </a:t>
                      </a:r>
                      <a:r>
                        <a:rPr kumimoji="1" lang="en-US" altLang="ja-JP" sz="14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api.php</a:t>
                      </a:r>
                      <a:endParaRPr kumimoji="1" lang="en-US" altLang="ja-JP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777907"/>
                  </a:ext>
                </a:extLst>
              </a:tr>
              <a:tr h="719370"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FR-P-01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プロフィール表示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ボタンクリックでプロフィール一覧を表示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UI,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フロント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その他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PHP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、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JavaScript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profile.php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725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989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B8BC9B-8CB3-D79A-40A8-CF1245DA2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プロジェクト</a:t>
            </a:r>
            <a:r>
              <a:rPr lang="en-US" altLang="ja-JP"/>
              <a:t> </a:t>
            </a:r>
            <a:r>
              <a:rPr kumimoji="1" lang="ja-JP" altLang="en-US"/>
              <a:t>スケジュール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3C9D3CA-955F-0F40-6AFE-B6CE17B97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13</a:t>
            </a:fld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4C2D171-6AF9-70DF-7E23-20705185A4B2}"/>
              </a:ext>
            </a:extLst>
          </p:cNvPr>
          <p:cNvSpPr/>
          <p:nvPr/>
        </p:nvSpPr>
        <p:spPr>
          <a:xfrm>
            <a:off x="7742591" y="1803919"/>
            <a:ext cx="1401650" cy="4421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W5</a:t>
            </a:r>
            <a:endParaRPr kumimoji="1" lang="ja-JP" altLang="en-US" sz="120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469F249-EA97-6DEA-A24A-9D16BE3011A5}"/>
              </a:ext>
            </a:extLst>
          </p:cNvPr>
          <p:cNvSpPr/>
          <p:nvPr/>
        </p:nvSpPr>
        <p:spPr>
          <a:xfrm>
            <a:off x="9144243" y="1801347"/>
            <a:ext cx="1535783" cy="4421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W6</a:t>
            </a:r>
            <a:endParaRPr kumimoji="1" lang="ja-JP" altLang="en-US" sz="120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FCCD9AD-E786-12BD-2C85-8BC3E65EF3DA}"/>
              </a:ext>
            </a:extLst>
          </p:cNvPr>
          <p:cNvSpPr/>
          <p:nvPr/>
        </p:nvSpPr>
        <p:spPr>
          <a:xfrm>
            <a:off x="3086685" y="2229928"/>
            <a:ext cx="1549918" cy="36758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D7D355CD-289A-FCA7-1533-866C5AA249D1}"/>
              </a:ext>
            </a:extLst>
          </p:cNvPr>
          <p:cNvSpPr/>
          <p:nvPr/>
        </p:nvSpPr>
        <p:spPr>
          <a:xfrm>
            <a:off x="4615830" y="2227064"/>
            <a:ext cx="1535782" cy="36758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B0BED5A4-E934-CE54-8D55-A2FBD06028D2}"/>
              </a:ext>
            </a:extLst>
          </p:cNvPr>
          <p:cNvSpPr/>
          <p:nvPr/>
        </p:nvSpPr>
        <p:spPr>
          <a:xfrm>
            <a:off x="6151612" y="2243455"/>
            <a:ext cx="1571894" cy="36758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CF97EFE1-A859-7561-5B8A-B262F18EA126}"/>
              </a:ext>
            </a:extLst>
          </p:cNvPr>
          <p:cNvSpPr/>
          <p:nvPr/>
        </p:nvSpPr>
        <p:spPr>
          <a:xfrm>
            <a:off x="7752133" y="2243259"/>
            <a:ext cx="1397872" cy="36758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7161ACDB-13F7-F7CC-D962-01E7C49BB791}"/>
              </a:ext>
            </a:extLst>
          </p:cNvPr>
          <p:cNvSpPr/>
          <p:nvPr/>
        </p:nvSpPr>
        <p:spPr>
          <a:xfrm>
            <a:off x="9144241" y="2243260"/>
            <a:ext cx="1535785" cy="36758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9" name="ホームベース 58">
            <a:extLst>
              <a:ext uri="{FF2B5EF4-FFF2-40B4-BE49-F238E27FC236}">
                <a16:creationId xmlns:a16="http://schemas.microsoft.com/office/drawing/2014/main" id="{D84446C4-3E64-48AB-9F9E-2DAA33E40824}"/>
              </a:ext>
            </a:extLst>
          </p:cNvPr>
          <p:cNvSpPr/>
          <p:nvPr/>
        </p:nvSpPr>
        <p:spPr>
          <a:xfrm>
            <a:off x="4625372" y="3343922"/>
            <a:ext cx="3117219" cy="49869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b="1">
                <a:latin typeface="Meiryo UI" panose="020B0604030504040204" pitchFamily="34" charset="-128"/>
                <a:ea typeface="Meiryo UI" panose="020B0604030504040204" pitchFamily="34" charset="-128"/>
              </a:rPr>
              <a:t>開発</a:t>
            </a:r>
            <a:endParaRPr kumimoji="1" lang="ja-JP" altLang="en-US" sz="1200" b="1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0" name="ホームベース 59">
            <a:extLst>
              <a:ext uri="{FF2B5EF4-FFF2-40B4-BE49-F238E27FC236}">
                <a16:creationId xmlns:a16="http://schemas.microsoft.com/office/drawing/2014/main" id="{758A9529-DDD5-4B53-2F49-04ED82529D7A}"/>
              </a:ext>
            </a:extLst>
          </p:cNvPr>
          <p:cNvSpPr/>
          <p:nvPr/>
        </p:nvSpPr>
        <p:spPr>
          <a:xfrm>
            <a:off x="8474584" y="4383646"/>
            <a:ext cx="1282060" cy="49869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テスト・デバッグ</a:t>
            </a:r>
            <a:endParaRPr kumimoji="1" lang="ja-JP" altLang="en-US" sz="12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BF8DC9C1-716D-9919-5112-1AD79D4A2CE8}"/>
              </a:ext>
            </a:extLst>
          </p:cNvPr>
          <p:cNvSpPr/>
          <p:nvPr/>
        </p:nvSpPr>
        <p:spPr>
          <a:xfrm>
            <a:off x="1536092" y="2243455"/>
            <a:ext cx="1554010" cy="3675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22D8549E-12DE-9A4C-95F1-B230CC83E1E7}"/>
              </a:ext>
            </a:extLst>
          </p:cNvPr>
          <p:cNvSpPr/>
          <p:nvPr/>
        </p:nvSpPr>
        <p:spPr>
          <a:xfrm>
            <a:off x="498331" y="1801152"/>
            <a:ext cx="1043895" cy="442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経過週</a:t>
            </a: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A9736911-AD69-DFE4-A496-580FEAAB1545}"/>
              </a:ext>
            </a:extLst>
          </p:cNvPr>
          <p:cNvSpPr/>
          <p:nvPr/>
        </p:nvSpPr>
        <p:spPr>
          <a:xfrm>
            <a:off x="498331" y="2243455"/>
            <a:ext cx="1043895" cy="3675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ja-JP" altLang="en-US" sz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タスクおよびスケジュール</a:t>
            </a:r>
            <a:endParaRPr kumimoji="1" lang="ja-JP" altLang="en-US" sz="120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9877D7B-8969-9CAA-B464-54B9D4FC39ED}"/>
              </a:ext>
            </a:extLst>
          </p:cNvPr>
          <p:cNvSpPr/>
          <p:nvPr/>
        </p:nvSpPr>
        <p:spPr>
          <a:xfrm>
            <a:off x="498331" y="1358947"/>
            <a:ext cx="1043895" cy="442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月</a:t>
            </a:r>
            <a:endParaRPr kumimoji="1" lang="ja-JP" altLang="en-US" sz="140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6225A25-8046-8229-BF0A-DAADE81949D8}"/>
              </a:ext>
            </a:extLst>
          </p:cNvPr>
          <p:cNvSpPr/>
          <p:nvPr/>
        </p:nvSpPr>
        <p:spPr>
          <a:xfrm>
            <a:off x="2194560" y="1358947"/>
            <a:ext cx="4816292" cy="442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10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月</a:t>
            </a:r>
            <a:endParaRPr kumimoji="1" lang="ja-JP" altLang="en-US" sz="1400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554C053-88B9-F07A-9B05-CB78B5A4E199}"/>
              </a:ext>
            </a:extLst>
          </p:cNvPr>
          <p:cNvSpPr/>
          <p:nvPr/>
        </p:nvSpPr>
        <p:spPr>
          <a:xfrm>
            <a:off x="7010851" y="1358947"/>
            <a:ext cx="3669175" cy="442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11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月</a:t>
            </a:r>
            <a:endParaRPr kumimoji="1" lang="ja-JP" altLang="en-US" sz="1400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8" name="ホームベース 37">
            <a:extLst>
              <a:ext uri="{FF2B5EF4-FFF2-40B4-BE49-F238E27FC236}">
                <a16:creationId xmlns:a16="http://schemas.microsoft.com/office/drawing/2014/main" id="{09FDB144-0BB6-37F6-823B-A4BB956F918D}"/>
              </a:ext>
            </a:extLst>
          </p:cNvPr>
          <p:cNvSpPr/>
          <p:nvPr/>
        </p:nvSpPr>
        <p:spPr>
          <a:xfrm>
            <a:off x="1700967" y="6037981"/>
            <a:ext cx="1282058" cy="257768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>
                <a:latin typeface="Meiryo UI" panose="020B0604030504040204" pitchFamily="34" charset="-128"/>
                <a:ea typeface="Meiryo UI" panose="020B0604030504040204" pitchFamily="34" charset="-128"/>
              </a:rPr>
              <a:t>タスク</a:t>
            </a:r>
          </a:p>
        </p:txBody>
      </p:sp>
      <p:sp>
        <p:nvSpPr>
          <p:cNvPr id="56" name="ホームベース 55">
            <a:extLst>
              <a:ext uri="{FF2B5EF4-FFF2-40B4-BE49-F238E27FC236}">
                <a16:creationId xmlns:a16="http://schemas.microsoft.com/office/drawing/2014/main" id="{B59A9959-CAC1-354B-F2E0-47C5E89F2A5E}"/>
              </a:ext>
            </a:extLst>
          </p:cNvPr>
          <p:cNvSpPr/>
          <p:nvPr/>
        </p:nvSpPr>
        <p:spPr>
          <a:xfrm>
            <a:off x="1569022" y="2346534"/>
            <a:ext cx="1508119" cy="49869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>
                <a:latin typeface="Meiryo UI" panose="020B0604030504040204" pitchFamily="34" charset="-128"/>
                <a:ea typeface="Meiryo UI" panose="020B0604030504040204" pitchFamily="34" charset="-128"/>
              </a:rPr>
              <a:t>要件定義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A676111-4371-B74E-397F-7496B977872A}"/>
              </a:ext>
            </a:extLst>
          </p:cNvPr>
          <p:cNvSpPr/>
          <p:nvPr/>
        </p:nvSpPr>
        <p:spPr>
          <a:xfrm>
            <a:off x="1542226" y="1358947"/>
            <a:ext cx="652333" cy="4296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9</a:t>
            </a:r>
            <a:r>
              <a:rPr kumimoji="1" lang="ja-JP" altLang="en-US" sz="14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月</a:t>
            </a:r>
            <a:endParaRPr kumimoji="1" lang="en-US" altLang="ja-JP" sz="1400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D156B76-400E-4D72-24EE-3AC013C4C3F6}"/>
              </a:ext>
            </a:extLst>
          </p:cNvPr>
          <p:cNvSpPr/>
          <p:nvPr/>
        </p:nvSpPr>
        <p:spPr>
          <a:xfrm>
            <a:off x="3079384" y="1788633"/>
            <a:ext cx="1535783" cy="4421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W2</a:t>
            </a:r>
            <a:endParaRPr kumimoji="1" lang="ja-JP" altLang="en-US" sz="120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078179C-1B6B-DC04-CE2B-128E64D79527}"/>
              </a:ext>
            </a:extLst>
          </p:cNvPr>
          <p:cNvSpPr/>
          <p:nvPr/>
        </p:nvSpPr>
        <p:spPr>
          <a:xfrm>
            <a:off x="4615830" y="1786388"/>
            <a:ext cx="1535783" cy="4421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W3</a:t>
            </a:r>
            <a:endParaRPr kumimoji="1" lang="ja-JP" altLang="en-US" sz="1200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510D27E-83A1-3F9C-F241-D53B2B3D929E}"/>
              </a:ext>
            </a:extLst>
          </p:cNvPr>
          <p:cNvSpPr/>
          <p:nvPr/>
        </p:nvSpPr>
        <p:spPr>
          <a:xfrm>
            <a:off x="6161155" y="1802779"/>
            <a:ext cx="1571893" cy="4421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W4</a:t>
            </a:r>
            <a:endParaRPr kumimoji="1" lang="ja-JP" altLang="en-US" sz="120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2691039-72A5-B794-5B5F-6CA9F834336F}"/>
              </a:ext>
            </a:extLst>
          </p:cNvPr>
          <p:cNvSpPr/>
          <p:nvPr/>
        </p:nvSpPr>
        <p:spPr>
          <a:xfrm>
            <a:off x="1553656" y="1801347"/>
            <a:ext cx="1525728" cy="4421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W1</a:t>
            </a:r>
            <a:endParaRPr kumimoji="1" lang="ja-JP" altLang="en-US" sz="120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7" name="ホームベース 56">
            <a:extLst>
              <a:ext uri="{FF2B5EF4-FFF2-40B4-BE49-F238E27FC236}">
                <a16:creationId xmlns:a16="http://schemas.microsoft.com/office/drawing/2014/main" id="{9612766F-E1D2-65A0-C91C-C2F35D3724A3}"/>
              </a:ext>
            </a:extLst>
          </p:cNvPr>
          <p:cNvSpPr/>
          <p:nvPr/>
        </p:nvSpPr>
        <p:spPr>
          <a:xfrm>
            <a:off x="3090102" y="2845228"/>
            <a:ext cx="1506643" cy="49869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設計</a:t>
            </a:r>
          </a:p>
        </p:txBody>
      </p:sp>
      <p:sp>
        <p:nvSpPr>
          <p:cNvPr id="30" name="ホームベース 59">
            <a:extLst>
              <a:ext uri="{FF2B5EF4-FFF2-40B4-BE49-F238E27FC236}">
                <a16:creationId xmlns:a16="http://schemas.microsoft.com/office/drawing/2014/main" id="{6975C1C4-06BD-FEC0-E7A4-628A281FD2D7}"/>
              </a:ext>
            </a:extLst>
          </p:cNvPr>
          <p:cNvSpPr/>
          <p:nvPr/>
        </p:nvSpPr>
        <p:spPr>
          <a:xfrm>
            <a:off x="7723506" y="3845550"/>
            <a:ext cx="1003013" cy="49869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テスト設計</a:t>
            </a:r>
            <a:endParaRPr kumimoji="1" lang="ja-JP" altLang="en-US" sz="12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1" name="ホームベース 59">
            <a:extLst>
              <a:ext uri="{FF2B5EF4-FFF2-40B4-BE49-F238E27FC236}">
                <a16:creationId xmlns:a16="http://schemas.microsoft.com/office/drawing/2014/main" id="{BEEF9BB0-0ADB-A605-930A-B32B84FF41AE}"/>
              </a:ext>
            </a:extLst>
          </p:cNvPr>
          <p:cNvSpPr/>
          <p:nvPr/>
        </p:nvSpPr>
        <p:spPr>
          <a:xfrm>
            <a:off x="9756644" y="4930031"/>
            <a:ext cx="1282060" cy="49869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報告書</a:t>
            </a:r>
            <a:endParaRPr kumimoji="1" lang="ja-JP" altLang="en-US" sz="12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" name="ホームベース 37">
            <a:extLst>
              <a:ext uri="{FF2B5EF4-FFF2-40B4-BE49-F238E27FC236}">
                <a16:creationId xmlns:a16="http://schemas.microsoft.com/office/drawing/2014/main" id="{676E6888-343F-7ACD-1546-056CA30325FC}"/>
              </a:ext>
            </a:extLst>
          </p:cNvPr>
          <p:cNvSpPr/>
          <p:nvPr/>
        </p:nvSpPr>
        <p:spPr>
          <a:xfrm>
            <a:off x="2293305" y="4650339"/>
            <a:ext cx="1715886" cy="49869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プログラミング練習</a:t>
            </a:r>
          </a:p>
        </p:txBody>
      </p:sp>
    </p:spTree>
    <p:extLst>
      <p:ext uri="{BB962C8B-B14F-4D97-AF65-F5344CB8AC3E}">
        <p14:creationId xmlns:p14="http://schemas.microsoft.com/office/powerpoint/2010/main" val="2035927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F6BCD-7DD9-5ADF-4AFC-281340539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20DA56-E85F-7B7C-699F-7440DD6FE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開発スケジュール（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週目）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54CB597-F451-BCBF-262F-098DCEF57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14</a:t>
            </a:fld>
            <a:endParaRPr lang="ja-JP" altLang="en-US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A50683EB-DEDE-4D7B-8101-71E3255A2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56145"/>
              </p:ext>
            </p:extLst>
          </p:nvPr>
        </p:nvGraphicFramePr>
        <p:xfrm>
          <a:off x="623888" y="992460"/>
          <a:ext cx="10627206" cy="5164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025">
                  <a:extLst>
                    <a:ext uri="{9D8B030D-6E8A-4147-A177-3AD203B41FA5}">
                      <a16:colId xmlns:a16="http://schemas.microsoft.com/office/drawing/2014/main" val="1485428779"/>
                    </a:ext>
                  </a:extLst>
                </a:gridCol>
                <a:gridCol w="5818909">
                  <a:extLst>
                    <a:ext uri="{9D8B030D-6E8A-4147-A177-3AD203B41FA5}">
                      <a16:colId xmlns:a16="http://schemas.microsoft.com/office/drawing/2014/main" val="2957924305"/>
                    </a:ext>
                  </a:extLst>
                </a:gridCol>
                <a:gridCol w="4052272">
                  <a:extLst>
                    <a:ext uri="{9D8B030D-6E8A-4147-A177-3AD203B41FA5}">
                      <a16:colId xmlns:a16="http://schemas.microsoft.com/office/drawing/2014/main" val="713788055"/>
                    </a:ext>
                  </a:extLst>
                </a:gridCol>
              </a:tblGrid>
              <a:tr h="660247"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曜日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タスク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備考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55239"/>
                  </a:ext>
                </a:extLst>
              </a:tr>
              <a:tr h="480929"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祝日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作業なし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968457"/>
                  </a:ext>
                </a:extLst>
              </a:tr>
              <a:tr h="953368"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・設計書見直し</a:t>
                      </a:r>
                      <a:br>
                        <a:rPr kumimoji="1" lang="en-US" altLang="ja-JP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  <a:r>
                        <a:rPr kumimoji="1" lang="en-US" altLang="ja-JP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DB</a:t>
                      </a:r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設計＆</a:t>
                      </a:r>
                      <a:r>
                        <a:rPr kumimoji="1" lang="en-US" altLang="ja-JP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threads</a:t>
                      </a:r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テーブル作成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  <a:r>
                        <a:rPr kumimoji="1" lang="en-US" altLang="ja-JP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posts</a:t>
                      </a:r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テーブル作成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チャット機能のデータベースを準備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810417"/>
                  </a:ext>
                </a:extLst>
              </a:tr>
              <a:tr h="953736"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API</a:t>
                      </a:r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実装①（一覧・新規作成系）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・スレッド一覧取得</a:t>
                      </a:r>
                      <a:r>
                        <a:rPr kumimoji="1" lang="en-US" altLang="ja-JP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API</a:t>
                      </a:r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</a:t>
                      </a:r>
                      <a:r>
                        <a:rPr kumimoji="1" lang="en-US" altLang="ja-JP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GET</a:t>
                      </a:r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）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・新規スレッド作成</a:t>
                      </a:r>
                      <a:r>
                        <a:rPr kumimoji="1" lang="en-US" altLang="ja-JP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API</a:t>
                      </a:r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</a:t>
                      </a:r>
                      <a:r>
                        <a:rPr kumimoji="1" lang="en-US" altLang="ja-JP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POST</a:t>
                      </a:r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api.php</a:t>
                      </a:r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を改修し、スレッドを作って・一覧で見るためのサーバ側処理を実装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210096"/>
                  </a:ext>
                </a:extLst>
              </a:tr>
              <a:tr h="953736"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フロント実装①（一覧・新規作成画面）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  <a:r>
                        <a:rPr kumimoji="1" lang="en-US" altLang="ja-JP" sz="20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thread_list.php</a:t>
                      </a:r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の作成・改修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  <a:r>
                        <a:rPr kumimoji="1" lang="en-US" altLang="ja-JP" sz="20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new_thread.php</a:t>
                      </a:r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の作成・改修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水曜に作成した</a:t>
                      </a:r>
                      <a:r>
                        <a:rPr kumimoji="1" lang="en-US" altLang="ja-JP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API</a:t>
                      </a:r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を使い、ブラウザでスレッド一覧を表示。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新規作成フォームから投稿できる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485440"/>
                  </a:ext>
                </a:extLst>
              </a:tr>
              <a:tr h="953736"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API</a:t>
                      </a:r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実装②（詳細・返信系）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・スレッド詳細取得</a:t>
                      </a:r>
                      <a:r>
                        <a:rPr kumimoji="1" lang="en-US" altLang="ja-JP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API</a:t>
                      </a:r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</a:t>
                      </a:r>
                      <a:r>
                        <a:rPr kumimoji="1" lang="en-US" altLang="ja-JP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GET</a:t>
                      </a:r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）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・返信投稿</a:t>
                      </a:r>
                      <a:r>
                        <a:rPr kumimoji="1" lang="en-US" altLang="ja-JP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API</a:t>
                      </a:r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</a:t>
                      </a:r>
                      <a:r>
                        <a:rPr kumimoji="1" lang="en-US" altLang="ja-JP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POST</a:t>
                      </a:r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）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特定のスレッドに紐づく投稿や返信を取得・追加するためのサーバ側処理を実装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632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093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19DD8-C40B-37A6-BEE1-1926B182B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2A682A-B773-45AB-88D4-AC353BA4C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開発スケジュール（</a:t>
            </a:r>
            <a:r>
              <a:rPr lang="ja-JP" altLang="en-US" dirty="0"/>
              <a:t>２</a:t>
            </a:r>
            <a:r>
              <a:rPr kumimoji="1" lang="ja-JP" altLang="en-US" dirty="0"/>
              <a:t>週目）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17753D7-6384-186D-0A73-CAB0B3940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15</a:t>
            </a:fld>
            <a:endParaRPr lang="ja-JP" altLang="en-US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DD94F9FE-F785-204A-596F-DA520067F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426940"/>
              </p:ext>
            </p:extLst>
          </p:nvPr>
        </p:nvGraphicFramePr>
        <p:xfrm>
          <a:off x="623888" y="902546"/>
          <a:ext cx="10627206" cy="55730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774">
                  <a:extLst>
                    <a:ext uri="{9D8B030D-6E8A-4147-A177-3AD203B41FA5}">
                      <a16:colId xmlns:a16="http://schemas.microsoft.com/office/drawing/2014/main" val="1485428779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957924305"/>
                    </a:ext>
                  </a:extLst>
                </a:gridCol>
                <a:gridCol w="4052272">
                  <a:extLst>
                    <a:ext uri="{9D8B030D-6E8A-4147-A177-3AD203B41FA5}">
                      <a16:colId xmlns:a16="http://schemas.microsoft.com/office/drawing/2014/main" val="713788055"/>
                    </a:ext>
                  </a:extLst>
                </a:gridCol>
              </a:tblGrid>
              <a:tr h="543869"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曜日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タスク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備考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55239"/>
                  </a:ext>
                </a:extLst>
              </a:tr>
              <a:tr h="953788"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フロント実装②（スレッド詳細画面）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  <a:r>
                        <a:rPr kumimoji="1" lang="en-US" altLang="ja-JP" sz="20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thread.php</a:t>
                      </a:r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の新規作成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・詳細表示と返信投稿フォームを実装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金曜日に作成した</a:t>
                      </a:r>
                      <a:r>
                        <a:rPr kumimoji="1" lang="en-US" altLang="ja-JP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API</a:t>
                      </a:r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を使い、返信の表示と投稿ができる。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チャットアプリのメイン画面完成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968457"/>
                  </a:ext>
                </a:extLst>
              </a:tr>
              <a:tr h="953368"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API</a:t>
                      </a:r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実装③（編集・削除系）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・投稿更新</a:t>
                      </a:r>
                      <a:r>
                        <a:rPr kumimoji="1" lang="en-US" altLang="ja-JP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API(POST or PUT)</a:t>
                      </a:r>
                    </a:p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・投稿削除</a:t>
                      </a:r>
                      <a:r>
                        <a:rPr kumimoji="1" lang="en-US" altLang="ja-JP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API(POST </a:t>
                      </a:r>
                      <a:r>
                        <a:rPr kumimoji="1" lang="en-US" altLang="ja-JP" sz="20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ot</a:t>
                      </a:r>
                      <a:r>
                        <a:rPr kumimoji="1" lang="en-US" altLang="ja-JP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DELETE)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自分の投稿を編集、削除するためのサーバ側処理を</a:t>
                      </a:r>
                      <a:r>
                        <a:rPr kumimoji="1" lang="en-US" altLang="ja-JP" sz="20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api.php</a:t>
                      </a:r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に追加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810417"/>
                  </a:ext>
                </a:extLst>
              </a:tr>
              <a:tr h="953736"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水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endParaRPr kumimoji="1" lang="ja-JP" altLang="en-US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フロント実装③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  <a:r>
                        <a:rPr kumimoji="1" lang="en-US" altLang="ja-JP" sz="20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edit_post.php</a:t>
                      </a:r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の作成・改修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・各画面に編集・削除ボタンの設置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投稿の横に編集・削除ボタンを配置し、実際に投稿の修正や削除ができるようにする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210096"/>
                  </a:ext>
                </a:extLst>
              </a:tr>
              <a:tr h="953736"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補助機能の実装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・ソート・ページング機能の適用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・プロフィール表示画面</a:t>
                      </a:r>
                      <a:r>
                        <a:rPr kumimoji="1" lang="en-US" altLang="ja-JP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en-US" altLang="ja-JP" sz="20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profile.php</a:t>
                      </a:r>
                      <a:r>
                        <a:rPr kumimoji="1" lang="en-US" altLang="ja-JP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の作成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アプリケーションの使い勝手を向上させるための追加機能を実装。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既存コードの流用がメイン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485440"/>
                  </a:ext>
                </a:extLst>
              </a:tr>
              <a:tr h="953736"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全体調整＆予備日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・画面遷移の確認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・表示崩れの修正、コードのリファクタリング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すべての機能が意図通りに連携して動作するかを確認し、コードを整理する。</a:t>
                      </a:r>
                      <a:endParaRPr kumimoji="1" lang="en-US" altLang="ja-JP" sz="20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0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遅延が発生した場合のバッファ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632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901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kumimoji="1" sz="1200" dirty="0">
            <a:latin typeface="Meiryo UI" panose="020B0604030504040204" pitchFamily="34" charset="-128"/>
            <a:ea typeface="Meiryo UI" panose="020B0604030504040204" pitchFamily="34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z="1200" smtClean="0">
            <a:latin typeface="Meiryo UI" panose="020B0604030504040204" pitchFamily="34" charset="-128"/>
            <a:ea typeface="Meiryo UI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00_bluecode_2021テンプレpptx.pptx" id="{4AC11F32-13B2-F346-8483-75E65E631398}" vid="{B64C0586-CBAE-2E46-A836-FB0DA1B7282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f048000-a4b7-49b4-a530-3a3b42f66c8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F26DF0118A9CF47A7403F72E4636C9C" ma:contentTypeVersion="5" ma:contentTypeDescription="新しいドキュメントを作成します。" ma:contentTypeScope="" ma:versionID="13bfa963eb0727d7dd56a2d28507f5d0">
  <xsd:schema xmlns:xsd="http://www.w3.org/2001/XMLSchema" xmlns:xs="http://www.w3.org/2001/XMLSchema" xmlns:p="http://schemas.microsoft.com/office/2006/metadata/properties" xmlns:ns3="4f048000-a4b7-49b4-a530-3a3b42f66c81" targetNamespace="http://schemas.microsoft.com/office/2006/metadata/properties" ma:root="true" ma:fieldsID="73145a0c60893f1b79c526e757f8bc55" ns3:_="">
    <xsd:import namespace="4f048000-a4b7-49b4-a530-3a3b42f66c8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048000-a4b7-49b4-a530-3a3b42f66c8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66228F0-24AA-4581-A80D-F1D9F69A141D}">
  <ds:schemaRefs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4f048000-a4b7-49b4-a530-3a3b42f66c81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C292D23-839B-4BF0-B510-48202E1B6D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048000-a4b7-49b4-a530-3a3b42f66c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FFD2E0-2AA1-4801-BAD3-D9D18FCE265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250930_KTP勤怠打刻システム_要件定義書_v1.1</Template>
  <TotalTime>3409</TotalTime>
  <Words>2022</Words>
  <Application>Microsoft Office PowerPoint</Application>
  <PresentationFormat>ワイド画面</PresentationFormat>
  <Paragraphs>326</Paragraphs>
  <Slides>15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Meiryo UI</vt:lpstr>
      <vt:lpstr>Arial</vt:lpstr>
      <vt:lpstr>游ゴシック</vt:lpstr>
      <vt:lpstr>Office テーマ</vt:lpstr>
      <vt:lpstr>業務利用を想定したスレッドアプリ開発 要件定義書</vt:lpstr>
      <vt:lpstr>目次</vt:lpstr>
      <vt:lpstr>システム化の背景・目的</vt:lpstr>
      <vt:lpstr>システム化の背景・目的</vt:lpstr>
      <vt:lpstr>前提条件</vt:lpstr>
      <vt:lpstr>前提条件</vt:lpstr>
      <vt:lpstr>機能概要・遷移</vt:lpstr>
      <vt:lpstr>開発範囲</vt:lpstr>
      <vt:lpstr>利用者・利用シーン</vt:lpstr>
      <vt:lpstr>機能要件１（概要）</vt:lpstr>
      <vt:lpstr>機能要件２（認証・投稿・閲覧）</vt:lpstr>
      <vt:lpstr>機能要件３（編集・削除・その他）</vt:lpstr>
      <vt:lpstr>プロジェクト スケジュール</vt:lpstr>
      <vt:lpstr>開発スケジュール（1週目）</vt:lpstr>
      <vt:lpstr>開発スケジュール（２週目）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坂井 壱謙</dc:creator>
  <cp:lastModifiedBy>坂井 壱謙</cp:lastModifiedBy>
  <cp:revision>2</cp:revision>
  <dcterms:created xsi:type="dcterms:W3CDTF">2025-09-30T01:30:33Z</dcterms:created>
  <dcterms:modified xsi:type="dcterms:W3CDTF">2025-11-10T06:35:58Z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0x0101001F26DF0118A9CF47A7403F72E4636C9C</vt:lpwstr>
  </property>
</Properties>
</file>